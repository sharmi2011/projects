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0"/>
  </p:notesMasterIdLst>
  <p:handoutMasterIdLst>
    <p:handoutMasterId r:id="rId41"/>
  </p:handoutMasterIdLst>
  <p:sldIdLst>
    <p:sldId id="327" r:id="rId2"/>
    <p:sldId id="336" r:id="rId3"/>
    <p:sldId id="339" r:id="rId4"/>
    <p:sldId id="382" r:id="rId5"/>
    <p:sldId id="383" r:id="rId6"/>
    <p:sldId id="384" r:id="rId7"/>
    <p:sldId id="377" r:id="rId8"/>
    <p:sldId id="375" r:id="rId9"/>
    <p:sldId id="365" r:id="rId10"/>
    <p:sldId id="322" r:id="rId11"/>
    <p:sldId id="380" r:id="rId12"/>
    <p:sldId id="385" r:id="rId13"/>
    <p:sldId id="386" r:id="rId14"/>
    <p:sldId id="387" r:id="rId15"/>
    <p:sldId id="360" r:id="rId16"/>
    <p:sldId id="404" r:id="rId17"/>
    <p:sldId id="403" r:id="rId18"/>
    <p:sldId id="402" r:id="rId19"/>
    <p:sldId id="359" r:id="rId20"/>
    <p:sldId id="362" r:id="rId21"/>
    <p:sldId id="388" r:id="rId22"/>
    <p:sldId id="390" r:id="rId23"/>
    <p:sldId id="394" r:id="rId24"/>
    <p:sldId id="391" r:id="rId25"/>
    <p:sldId id="392" r:id="rId26"/>
    <p:sldId id="393" r:id="rId27"/>
    <p:sldId id="356" r:id="rId28"/>
    <p:sldId id="405" r:id="rId29"/>
    <p:sldId id="395" r:id="rId30"/>
    <p:sldId id="396" r:id="rId31"/>
    <p:sldId id="261" r:id="rId32"/>
    <p:sldId id="397" r:id="rId33"/>
    <p:sldId id="398" r:id="rId34"/>
    <p:sldId id="399" r:id="rId35"/>
    <p:sldId id="401" r:id="rId36"/>
    <p:sldId id="344" r:id="rId37"/>
    <p:sldId id="381" r:id="rId38"/>
    <p:sldId id="278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dharshan R" initials="SR" lastIdx="1" clrIdx="0">
    <p:extLst>
      <p:ext uri="{19B8F6BF-5375-455C-9EA6-DF929625EA0E}">
        <p15:presenceInfo xmlns:p15="http://schemas.microsoft.com/office/powerpoint/2012/main" userId="eb3c59e5376281d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1" autoAdjust="0"/>
    <p:restoredTop sz="99110" autoAdjust="0"/>
  </p:normalViewPr>
  <p:slideViewPr>
    <p:cSldViewPr>
      <p:cViewPr varScale="1">
        <p:scale>
          <a:sx n="82" d="100"/>
          <a:sy n="82" d="100"/>
        </p:scale>
        <p:origin x="135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4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ila J" userId="8e17edaa3b1f423f" providerId="LiveId" clId="{A2F2BEC4-64AE-4BB3-AA24-AEEB56DE1DBB}"/>
    <pc:docChg chg="modSld">
      <pc:chgData name="Sharmila J" userId="8e17edaa3b1f423f" providerId="LiveId" clId="{A2F2BEC4-64AE-4BB3-AA24-AEEB56DE1DBB}" dt="2026-01-08T16:03:35.921" v="3" actId="1035"/>
      <pc:docMkLst>
        <pc:docMk/>
      </pc:docMkLst>
      <pc:sldChg chg="modSp mod">
        <pc:chgData name="Sharmila J" userId="8e17edaa3b1f423f" providerId="LiveId" clId="{A2F2BEC4-64AE-4BB3-AA24-AEEB56DE1DBB}" dt="2026-01-08T16:03:35.921" v="3" actId="1035"/>
        <pc:sldMkLst>
          <pc:docMk/>
          <pc:sldMk cId="4153223080" sldId="395"/>
        </pc:sldMkLst>
        <pc:picChg chg="mod">
          <ac:chgData name="Sharmila J" userId="8e17edaa3b1f423f" providerId="LiveId" clId="{A2F2BEC4-64AE-4BB3-AA24-AEEB56DE1DBB}" dt="2026-01-08T16:03:35.921" v="3" actId="1035"/>
          <ac:picMkLst>
            <pc:docMk/>
            <pc:sldMk cId="4153223080" sldId="395"/>
            <ac:picMk id="5" creationId="{62A70BD7-A626-D92D-C02E-5B304A667A1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675F4-38AF-7ACE-B847-7CA1D9D30A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C3DAC-203D-1431-70AC-5FB6A11679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602C99E-F335-409A-B6E3-C43D282CCBD6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AE463-5297-030D-0475-3178A96D90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CBDB5-4EA8-6AA5-07DD-97CED44AF2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AC348CF-3AE0-4AFE-A509-9BBD2F0777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8A5570-533E-C56D-9727-A3B8612EC1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7394B-25F7-01B5-7466-38AE165877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ECA0175-4BD9-4B34-A33E-C6D0E1C6AB9B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A2F458-991B-AFEC-B06B-2B64B9EEF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ACF9E64-5A56-A483-2FCE-368269AA5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7A30F-14A4-CDFF-50AA-D7E6263B00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B4A3-20A7-8601-F0C6-9308C0D7F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D94326-B022-4B4F-B98E-6314C18051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60974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B86ABD82-7D48-FB58-7445-5216CC3178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F824E183-3003-C178-9BC6-6047C1B795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F570AF5D-2A7E-1488-EAD4-7534611EC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02FF602-8BE1-4838-8D92-113799561006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D7CD7EF7-9743-6F8A-B105-8FAE33F0EBD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8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D94326-B022-4B4F-B98E-6314C180512D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3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01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29">
            <a:extLst>
              <a:ext uri="{FF2B5EF4-FFF2-40B4-BE49-F238E27FC236}">
                <a16:creationId xmlns:a16="http://schemas.microsoft.com/office/drawing/2014/main" id="{BA5B611D-0847-2377-B681-BD9C51EA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80842-C809-4169-BA11-8A6EA50A44D8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3" name="Footer Placeholder 18">
            <a:extLst>
              <a:ext uri="{FF2B5EF4-FFF2-40B4-BE49-F238E27FC236}">
                <a16:creationId xmlns:a16="http://schemas.microsoft.com/office/drawing/2014/main" id="{6B7FE1D4-29EB-980E-F3E3-9ACC50B5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4" name="Slide Number Placeholder 26">
            <a:extLst>
              <a:ext uri="{FF2B5EF4-FFF2-40B4-BE49-F238E27FC236}">
                <a16:creationId xmlns:a16="http://schemas.microsoft.com/office/drawing/2014/main" id="{B0CB92AF-57B6-0231-72E5-AAEFED87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5A020-AA4D-4F40-947E-023110AE5E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37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A6398-6B63-2879-4479-2FADC77C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FA84A-BA66-4F2C-86CF-B2D3A9C9D662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7694B-F615-BDDE-E5B2-9CA796EF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83C74-7F1A-99D7-5DE0-D290ED4C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92B2A-F86D-4783-ABEE-CF1B3897A1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057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93CA-51BE-9A60-3D42-1F49FD75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0315C-5D1B-41D7-BE1B-2F040476E56D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1F4CB-5724-58FA-F7BE-30BFD8CD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1C453-FCB4-D509-BF0F-7C2C8439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60133-5141-47C4-A74F-A45BBC2524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6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A5293-A5D3-00FF-92EC-CBF1C02B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99182-408B-499B-9553-57B594BCB958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FA511-2327-6E6A-ACE2-26E5553A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FB1D9-3634-1983-0975-4D93AB86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E46EA-455F-49D2-A2BB-75342D526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43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8C93B-DA81-EBFB-202E-CD838900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74440-F929-4AD9-99CE-801D59D7E933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CE182-46FF-4C0A-B074-31C7FD01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50E8F-0032-507F-0F40-007F52BB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B04F3-0478-4469-9C18-68AB9F6909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26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75BB3-D093-5A5C-F9C5-E40FA97B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ADA7-7037-4614-B27D-ECDEB0E644F8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C4210-E34B-2610-B2F4-0CE964AD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347F7-CF98-CD8F-31B8-00CF623D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CE525-593F-4303-8F61-B6A1C4BAC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913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63C2B-7822-F0C5-A5FC-D7EBE4B6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CECDC-FDA9-4561-81B6-0FB91609E67B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49422-C04F-A1D5-D977-1BAF87DF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A670C-C75B-439B-7F9C-FCF16CA9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D375C-70FC-4561-94F7-8E34B7837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6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B693F-B479-624F-8B34-A5D1199D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0A02D-2CCC-4A18-BF44-3925F661E949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D8BA-AACB-730A-BCD6-256FBD33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22344-4ACE-3236-C877-A55D5FD7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CBEBE-5EDC-4408-A2B5-ABED87CC8E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04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13">
            <a:extLst>
              <a:ext uri="{FF2B5EF4-FFF2-40B4-BE49-F238E27FC236}">
                <a16:creationId xmlns:a16="http://schemas.microsoft.com/office/drawing/2014/main" id="{12382352-4544-5990-F21B-1DC9DBF91BF8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AF066242-8DA3-EED4-8D30-5A9D0CB9FCB7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639B79A5-10BC-26D9-AA80-9BD69D975C08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3FAF251-422A-AB8C-B312-42D11CDFB8E8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1FAA4200-2CF8-38B5-FA90-2F20BFBD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9B35E-C7CA-4F41-BB8D-4D4CDEE66559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68899FF-0FB0-4F53-38C0-F6CDD577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9864B84-B07D-FBA7-1EEA-42639D01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2891D-D55B-447E-9A1C-53C15DEB56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45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7017-1520-38CF-E0C1-C6D90DF4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FADE2-CBF2-413D-8FCE-480C77756263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E1F4D-626D-D345-67A0-C4E761C6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8359-9E3F-AFB4-2DB6-28CFCDE6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B716E-B316-4ED5-AE9D-BF9BE1528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36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9A04-6FED-08AB-DF17-B0DF5D57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93655-AB3B-4D84-874F-736D880AEA6A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91F2E-0185-178D-7FB6-DDD8F5EC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9EBC6-7E4A-FE5F-E36E-4300F2E2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50061-05D3-49C9-B942-DAED7946B8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47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1DE92431-617B-F8DC-C702-4FAF21A613D6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36F49B6-BEBE-C18B-73B4-2BEB13BB65A8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>
            <a:extLst>
              <a:ext uri="{FF2B5EF4-FFF2-40B4-BE49-F238E27FC236}">
                <a16:creationId xmlns:a16="http://schemas.microsoft.com/office/drawing/2014/main" id="{4DF91D89-7607-A573-A087-93CE08233CD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29">
            <a:extLst>
              <a:ext uri="{FF2B5EF4-FFF2-40B4-BE49-F238E27FC236}">
                <a16:creationId xmlns:a16="http://schemas.microsoft.com/office/drawing/2014/main" id="{FD3C577B-2A15-C529-AE8C-A988858C63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3904B7-3DA0-311A-6B58-4AA920EE3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5D0700D-DC56-4130-B65C-F256304730E3}" type="datetime1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16E7E2A1-A5B5-6CCD-6F8A-7482DB8F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INFORMATION TECHNOLOGY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FBAD49F-1EC3-562F-487D-FE73A731B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  <a:latin typeface="Constantia" panose="02030602050306030303" pitchFamily="18" charset="0"/>
              </a:defRPr>
            </a:lvl1pPr>
          </a:lstStyle>
          <a:p>
            <a:pPr>
              <a:defRPr/>
            </a:pPr>
            <a:fld id="{148F28F5-12D4-4C39-AE86-0EE30C93AB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3" name="Group 1">
            <a:extLst>
              <a:ext uri="{FF2B5EF4-FFF2-40B4-BE49-F238E27FC236}">
                <a16:creationId xmlns:a16="http://schemas.microsoft.com/office/drawing/2014/main" id="{7021E858-9658-7866-DB68-2E4D51162974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15AF23-F96C-B305-D65F-5FC21F3E9220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7C3AFEA-AF25-0945-9C1C-EB15BAD42455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doi.org/10.1111/1468-2389.00235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www.reuters.com/article/us-amazon-com-jobs-automation-insight-idUSKCN1MK08G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27B489E-A365-ED41-9323-6E2C9F4CBA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1000" y="1660525"/>
            <a:ext cx="8458200" cy="10668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Resume Integrity Checker: AI-Powered Fake Resume Detection</a:t>
            </a:r>
            <a:endParaRPr lang="en-US" altLang="en-US" sz="2800" b="1" dirty="0">
              <a:solidFill>
                <a:srgbClr val="0000CC"/>
              </a:solidFill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D4B1A-BCD4-B19C-021F-C890F61FBB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835275"/>
            <a:ext cx="9144000" cy="3254375"/>
          </a:xfrm>
        </p:spPr>
        <p:txBody>
          <a:bodyPr>
            <a:normAutofit fontScale="4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sz="36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dirty="0">
                <a:latin typeface="Algerian" panose="04020705040A02060702" pitchFamily="82" charset="0"/>
                <a:cs typeface="Times New Roman" panose="02020603050405020304" pitchFamily="18" charset="0"/>
              </a:rPr>
              <a:t>BATCH  MEMBERS : FINAL YEAR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74320" indent="-274320"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SHARMILA J       (511321205033)		</a:t>
            </a:r>
          </a:p>
          <a:p>
            <a:pPr marL="274320" indent="-274320"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SOWMIYA G        (511321205038)</a:t>
            </a:r>
          </a:p>
          <a:p>
            <a:pPr marL="274320" indent="-274320"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SWETHA R           (511321205044)</a:t>
            </a:r>
          </a:p>
          <a:p>
            <a:pPr marL="274320" indent="-274320"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VANISRI R            (511321205045)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	      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sz="3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 algn="just">
              <a:buNone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 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dirty="0">
                <a:latin typeface="Arial Black" panose="020B0A04020102020204" pitchFamily="34" charset="0"/>
              </a:rPr>
              <a:t>                                                                                </a:t>
            </a:r>
            <a:r>
              <a:rPr lang="en-IN" sz="3600" b="1" dirty="0">
                <a:latin typeface="Algerian" panose="04020705040A02060702" pitchFamily="82" charset="0"/>
              </a:rPr>
              <a:t>Name of the Supervisor</a:t>
            </a:r>
          </a:p>
          <a:p>
            <a:pPr marL="0" indent="0">
              <a:buNone/>
            </a:pPr>
            <a:r>
              <a:rPr lang="en-IN" sz="3600" b="1" i="1" dirty="0">
                <a:latin typeface="Cambria" panose="02040503050406030204" pitchFamily="18" charset="0"/>
                <a:ea typeface="Cambria" panose="02040503050406030204" pitchFamily="18" charset="0"/>
              </a:rPr>
              <a:t>					                       Ms . S . SriLakshmi AP/IT</a:t>
            </a:r>
            <a:endParaRPr lang="en-US" dirty="0"/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A5F617B1-55D9-641A-118D-6FABC17572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937AD6-E3FE-41E5-9B50-394381B02653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1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FBAF5-8A83-C6AD-58BC-61C23183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pic>
        <p:nvPicPr>
          <p:cNvPr id="15367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2700E4FF-4D65-9D33-38C5-397A7EF66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6178550"/>
            <a:ext cx="1795462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3ADC30-92D0-0B49-F34A-9355CCEBD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259809"/>
            <a:ext cx="3809999" cy="1185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NAAC-Logo-250×250 – SJB INSTITUTE OF ...">
            <a:extLst>
              <a:ext uri="{FF2B5EF4-FFF2-40B4-BE49-F238E27FC236}">
                <a16:creationId xmlns:a16="http://schemas.microsoft.com/office/drawing/2014/main" id="{3934A50B-B177-A5A2-C2E9-5DDB8F755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9" b="17259"/>
          <a:stretch/>
        </p:blipFill>
        <p:spPr bwMode="auto">
          <a:xfrm>
            <a:off x="6696075" y="168275"/>
            <a:ext cx="2143125" cy="140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>
            <a:extLst>
              <a:ext uri="{FF2B5EF4-FFF2-40B4-BE49-F238E27FC236}">
                <a16:creationId xmlns:a16="http://schemas.microsoft.com/office/drawing/2014/main" id="{1AC56C19-2D47-C4A2-AD7A-63A2DEDC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"/>
            <a:ext cx="8229600" cy="738188"/>
          </a:xfrm>
        </p:spPr>
        <p:txBody>
          <a:bodyPr/>
          <a:lstStyle/>
          <a:p>
            <a:pPr algn="ctr" eaLnBrk="1" hangingPunct="1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LITERATURE  SURVEY</a:t>
            </a:r>
          </a:p>
        </p:txBody>
      </p:sp>
      <p:sp>
        <p:nvSpPr>
          <p:cNvPr id="17411" name="Content Placeholder 5">
            <a:extLst>
              <a:ext uri="{FF2B5EF4-FFF2-40B4-BE49-F238E27FC236}">
                <a16:creationId xmlns:a16="http://schemas.microsoft.com/office/drawing/2014/main" id="{57FD65A9-DA89-9189-E217-16399CF1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51730"/>
            <a:ext cx="8763000" cy="4816475"/>
          </a:xfrm>
        </p:spPr>
        <p:txBody>
          <a:bodyPr/>
          <a:lstStyle/>
          <a:p>
            <a:pPr marL="0" indent="0" eaLnBrk="1" hangingPunct="1">
              <a:buNone/>
            </a:pPr>
            <a:endParaRPr lang="en-IN" sz="28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IN" sz="28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IN" sz="2800" b="1" dirty="0">
              <a:solidFill>
                <a:srgbClr val="0D0D0D"/>
              </a:solidFill>
              <a:effectLst/>
              <a:highlight>
                <a:srgbClr val="000000"/>
              </a:highlight>
              <a:latin typeface="Book Antiqua" panose="0204060205030503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Footer Placeholder 1">
            <a:extLst>
              <a:ext uri="{FF2B5EF4-FFF2-40B4-BE49-F238E27FC236}">
                <a16:creationId xmlns:a16="http://schemas.microsoft.com/office/drawing/2014/main" id="{B1630BF7-0FC0-1769-C4D5-FEF7E046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733800" y="6492875"/>
            <a:ext cx="4191000" cy="319088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17413" name="Slide Number Placeholder 2">
            <a:extLst>
              <a:ext uri="{FF2B5EF4-FFF2-40B4-BE49-F238E27FC236}">
                <a16:creationId xmlns:a16="http://schemas.microsoft.com/office/drawing/2014/main" id="{1772C128-7067-F85A-739D-C3A19012C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924800" y="6356350"/>
            <a:ext cx="727587" cy="32958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B2DCEE4-4347-46DD-A8F0-ADF7B375E1FA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2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17414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36866BD-EDC8-FD2C-AB89-CF2557D0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202363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F7A708-C095-2085-69E9-00471A865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21773"/>
              </p:ext>
            </p:extLst>
          </p:nvPr>
        </p:nvGraphicFramePr>
        <p:xfrm>
          <a:off x="381000" y="765969"/>
          <a:ext cx="8381999" cy="5375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143">
                  <a:extLst>
                    <a:ext uri="{9D8B030D-6E8A-4147-A177-3AD203B41FA5}">
                      <a16:colId xmlns:a16="http://schemas.microsoft.com/office/drawing/2014/main" val="869014333"/>
                    </a:ext>
                  </a:extLst>
                </a:gridCol>
                <a:gridCol w="1656416">
                  <a:extLst>
                    <a:ext uri="{9D8B030D-6E8A-4147-A177-3AD203B41FA5}">
                      <a16:colId xmlns:a16="http://schemas.microsoft.com/office/drawing/2014/main" val="1247537356"/>
                    </a:ext>
                  </a:extLst>
                </a:gridCol>
                <a:gridCol w="1678107">
                  <a:extLst>
                    <a:ext uri="{9D8B030D-6E8A-4147-A177-3AD203B41FA5}">
                      <a16:colId xmlns:a16="http://schemas.microsoft.com/office/drawing/2014/main" val="2019915915"/>
                    </a:ext>
                  </a:extLst>
                </a:gridCol>
                <a:gridCol w="1678107">
                  <a:extLst>
                    <a:ext uri="{9D8B030D-6E8A-4147-A177-3AD203B41FA5}">
                      <a16:colId xmlns:a16="http://schemas.microsoft.com/office/drawing/2014/main" val="2171562842"/>
                    </a:ext>
                  </a:extLst>
                </a:gridCol>
                <a:gridCol w="1573226">
                  <a:extLst>
                    <a:ext uri="{9D8B030D-6E8A-4147-A177-3AD203B41FA5}">
                      <a16:colId xmlns:a16="http://schemas.microsoft.com/office/drawing/2014/main" val="3139169984"/>
                    </a:ext>
                  </a:extLst>
                </a:gridCol>
              </a:tblGrid>
              <a:tr h="621461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72035"/>
                  </a:ext>
                </a:extLst>
              </a:tr>
              <a:tr h="236747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Scalable Job Recommendation With Lower Congestion Using Optimal Transport </a:t>
                      </a:r>
                      <a:r>
                        <a:rPr lang="en-IN" sz="1200" b="1" dirty="0">
                          <a:latin typeface="+mn-lt"/>
                          <a:cs typeface="Times New Roman" panose="02020603050405020304" pitchFamily="18" charset="0"/>
                        </a:rPr>
                        <a:t>Author :  </a:t>
                      </a: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Bo Kyung Kang, and Tijl De Bie </a:t>
                      </a:r>
                      <a:r>
                        <a:rPr lang="en-IN" sz="1200" b="1" dirty="0">
                          <a:latin typeface="+mn-lt"/>
                          <a:cs typeface="Times New Roman" panose="02020603050405020304" pitchFamily="18" charset="0"/>
                        </a:rPr>
                        <a:t>Year :</a:t>
                      </a: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Accurately predicting personality traits, such as extroversion, from user-generated content is valuable for personalized services, recruitment, and career counseling.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Optimal Transport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an optimization-based approach to match candidates with job postings efficiently, reducing system overload.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We use an improved job recommendation model that optimizes candidate-job matching while reducing congestion and response time in large-scale recruitment systems.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87492"/>
                  </a:ext>
                </a:extLst>
              </a:tr>
              <a:tr h="2367471">
                <a:tc>
                  <a:txBody>
                    <a:bodyPr/>
                    <a:lstStyle/>
                    <a:p>
                      <a:r>
                        <a:rPr lang="en-US" sz="1200" dirty="0"/>
                        <a:t>AI Knows You: Deep Learning Model for Prediction of Extroversion Personality Trait</a:t>
                      </a:r>
                    </a:p>
                    <a:p>
                      <a:r>
                        <a:rPr lang="en-US" sz="1200" b="1" dirty="0"/>
                        <a:t>Author : </a:t>
                      </a:r>
                      <a:r>
                        <a:rPr lang="en-US" sz="1200" dirty="0"/>
                        <a:t>Anam Naz, Hikmat Ullah Khan, Sami , Omar Ibrahim Ali Daud, Muhammad Ramzan </a:t>
                      </a:r>
                      <a:r>
                        <a:rPr lang="en-US" sz="1200" b="1" dirty="0"/>
                        <a:t>Year : </a:t>
                      </a:r>
                      <a:r>
                        <a:rPr lang="en-US" sz="1200" dirty="0"/>
                        <a:t>2024.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Accurately predicting personality traits, such as extroversion, from user-generated content is valuable for personalized services, recruitment, and career counseling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Bi-LSTM (Bidirectional Long Short-Term Memory)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User-generated content analyzed for linguistic Representations capturing semantic nuances of text Bi-LSTM model to process sequential data effectively.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Bi-LSTM model utilizing sentence achieved high accuracy in predicting extroversion, outperforming existing studies in the relevant literature.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20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5E93FB46-0E77-1A6E-D1BD-0CDF35F0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8991600" cy="860425"/>
          </a:xfrm>
        </p:spPr>
        <p:txBody>
          <a:bodyPr/>
          <a:lstStyle/>
          <a:p>
            <a:pPr eaLnBrk="1" hangingPunct="1"/>
            <a:br>
              <a:rPr lang="en-IN" sz="4400" dirty="0"/>
            </a:br>
            <a:endParaRPr lang="en-IN" altLang="en-US" sz="4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3EAF3B3-B662-CCB8-1C47-070E53A25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64481"/>
            <a:ext cx="8839200" cy="5568069"/>
          </a:xfrm>
        </p:spPr>
        <p:txBody>
          <a:bodyPr/>
          <a:lstStyle/>
          <a:p>
            <a:pPr marL="0" indent="0">
              <a:buNone/>
            </a:pPr>
            <a:endParaRPr lang="en-IN" sz="2800" b="1" dirty="0">
              <a:solidFill>
                <a:srgbClr val="0D0D0D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1" hangingPunct="1">
              <a:buNone/>
            </a:pPr>
            <a:endParaRPr lang="en-IN" altLang="en-US" sz="2800" b="1" dirty="0">
              <a:solidFill>
                <a:srgbClr val="0D0D0D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8A4BC-7C84-7394-FC70-C12C1889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CF04ADE8-EAFB-B717-D7DC-BD92EB73E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AB12A39-8EAC-43F0-8D46-286451019AB5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3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19462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27073D64-4D71-AAF6-6089-34A38FFE2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6356350"/>
            <a:ext cx="1754188" cy="46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FE086-75CC-1EF9-9E48-00B642D8432E}"/>
              </a:ext>
            </a:extLst>
          </p:cNvPr>
          <p:cNvSpPr txBox="1"/>
          <p:nvPr/>
        </p:nvSpPr>
        <p:spPr>
          <a:xfrm>
            <a:off x="599807" y="54114"/>
            <a:ext cx="80676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LITERATURE  SURVEY</a:t>
            </a:r>
            <a:endParaRPr lang="en-IN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2CEEAC-7F1E-F2F7-AA36-E3DFD130B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99396"/>
              </p:ext>
            </p:extLst>
          </p:nvPr>
        </p:nvGraphicFramePr>
        <p:xfrm>
          <a:off x="304798" y="765969"/>
          <a:ext cx="8534402" cy="540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15">
                  <a:extLst>
                    <a:ext uri="{9D8B030D-6E8A-4147-A177-3AD203B41FA5}">
                      <a16:colId xmlns:a16="http://schemas.microsoft.com/office/drawing/2014/main" val="869014333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1247537356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019915915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171562842"/>
                    </a:ext>
                  </a:extLst>
                </a:gridCol>
                <a:gridCol w="1601830">
                  <a:extLst>
                    <a:ext uri="{9D8B030D-6E8A-4147-A177-3AD203B41FA5}">
                      <a16:colId xmlns:a16="http://schemas.microsoft.com/office/drawing/2014/main" val="3139169984"/>
                    </a:ext>
                  </a:extLst>
                </a:gridCol>
              </a:tblGrid>
              <a:tr h="69381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72035"/>
                  </a:ext>
                </a:extLst>
              </a:tr>
              <a:tr h="208977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Atypical</a:t>
                      </a:r>
                      <a:r>
                        <a:rPr lang="en-US" sz="14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responses of job candidates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</a:t>
                      </a:r>
                      <a:r>
                        <a:rPr lang="en-US" sz="14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US" sz="14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job interviews and their possible triggers</a:t>
                      </a:r>
                      <a:r>
                        <a:rPr lang="en-US" sz="12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r>
                        <a:rPr lang="en-IN" sz="1050" b="1" dirty="0">
                          <a:latin typeface="+mn-lt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IN" sz="1100" dirty="0">
                          <a:latin typeface="+mn-lt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 Helena </a:t>
                      </a:r>
                      <a:r>
                        <a:rPr lang="en-IN" sz="1200" dirty="0" err="1">
                          <a:latin typeface="+mn-lt"/>
                          <a:cs typeface="Times New Roman" panose="02020603050405020304" pitchFamily="18" charset="0"/>
                        </a:rPr>
                        <a:t>Repova,Pavel</a:t>
                      </a:r>
                      <a:r>
                        <a:rPr lang="en-IN" sz="1200" baseline="0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aseline="0" dirty="0" err="1">
                          <a:latin typeface="+mn-lt"/>
                          <a:cs typeface="Times New Roman" panose="02020603050405020304" pitchFamily="18" charset="0"/>
                        </a:rPr>
                        <a:t>Kral</a:t>
                      </a:r>
                      <a:r>
                        <a:rPr lang="en-IN" sz="1200" baseline="0" dirty="0">
                          <a:latin typeface="+mn-lt"/>
                          <a:cs typeface="Times New Roman" panose="02020603050405020304" pitchFamily="18" charset="0"/>
                        </a:rPr>
                        <a:t> ,Jan </a:t>
                      </a:r>
                      <a:r>
                        <a:rPr lang="en-IN" sz="1200" baseline="0" dirty="0" err="1">
                          <a:latin typeface="+mn-lt"/>
                          <a:cs typeface="Times New Roman" panose="02020603050405020304" pitchFamily="18" charset="0"/>
                        </a:rPr>
                        <a:t>Zouhar</a:t>
                      </a:r>
                      <a:r>
                        <a:rPr lang="en-IN" sz="1200" baseline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100" b="1" dirty="0">
                          <a:latin typeface="+mn-lt"/>
                          <a:cs typeface="Times New Roman" panose="02020603050405020304" pitchFamily="18" charset="0"/>
                        </a:rPr>
                        <a:t>YEAR: </a:t>
                      </a:r>
                      <a:r>
                        <a:rPr lang="en-IN" sz="1200" b="0" dirty="0">
                          <a:latin typeface="+mn-lt"/>
                          <a:cs typeface="Times New Roman" panose="02020603050405020304" pitchFamily="18" charset="0"/>
                        </a:rPr>
                        <a:t>2024 </a:t>
                      </a:r>
                    </a:p>
                    <a:p>
                      <a:endParaRPr lang="en-IN" sz="12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This paper aims to improve job recommendation systems by reducing congestion and improving matching accuracy.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Optimal Transport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an optimization-based approach to match candidates with job postings efficiently, reducing system overload.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We use an optimized job recommendation model</a:t>
                      </a:r>
                      <a:r>
                        <a:rPr lang="en-US" sz="1200" b="0" baseline="0" dirty="0"/>
                        <a:t> </a:t>
                      </a:r>
                      <a:r>
                        <a:rPr lang="en-US" sz="1200" b="0" dirty="0"/>
                        <a:t>that improves candidate-job matching while reducing congestion</a:t>
                      </a:r>
                      <a:r>
                        <a:rPr lang="en-US" sz="1200" b="0" baseline="0" dirty="0"/>
                        <a:t> </a:t>
                      </a:r>
                      <a:r>
                        <a:rPr lang="en-US" sz="1200" b="0" dirty="0"/>
                        <a:t>in large-scale recruitment platforms. 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87492"/>
                  </a:ext>
                </a:extLst>
              </a:tr>
              <a:tr h="2623933">
                <a:tc>
                  <a:txBody>
                    <a:bodyPr/>
                    <a:lstStyle/>
                    <a:p>
                      <a:r>
                        <a:rPr lang="en-US" sz="1200" dirty="0"/>
                        <a:t>Mapping the Landscape of AI-Driven Human Resource Management: A Social Network Analysis of Research Collaboration </a:t>
                      </a:r>
                    </a:p>
                    <a:p>
                      <a:r>
                        <a:rPr lang="en-US" sz="1200" b="1" dirty="0"/>
                        <a:t>Autho</a:t>
                      </a:r>
                      <a:r>
                        <a:rPr lang="en-US" sz="1200" dirty="0"/>
                        <a:t>r: Yong .C</a:t>
                      </a:r>
                    </a:p>
                    <a:p>
                      <a:r>
                        <a:rPr lang="en-US" sz="1200" b="1" dirty="0"/>
                        <a:t>Year</a:t>
                      </a:r>
                      <a:r>
                        <a:rPr lang="en-US" sz="1200" dirty="0"/>
                        <a:t>:2020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Explores how AI is reshaping HR management through research collaboration networks.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Social Network Analysis (SNA)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Analyzes AI-driven HR tools using graph-based models to map research trends.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 leverage SNA techniques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to identify key AI advancements in HR, enhancing recruitment strategies.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20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E56FF5-0A45-4B02-8363-C4233CA0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6200" y="6370637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</a:t>
            </a:r>
            <a:r>
              <a:rPr lang="en-US" b="1" dirty="0"/>
              <a:t> </a:t>
            </a:r>
            <a:r>
              <a:rPr lang="en-US" sz="1400" b="1" dirty="0">
                <a:solidFill>
                  <a:srgbClr val="0000CC"/>
                </a:solidFill>
              </a:rPr>
              <a:t>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2B0B4-18CD-C685-1752-252B538C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AEDC1-8F2F-20FA-5CE7-AF9B3AA9C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54783"/>
              </p:ext>
            </p:extLst>
          </p:nvPr>
        </p:nvGraphicFramePr>
        <p:xfrm>
          <a:off x="304798" y="765969"/>
          <a:ext cx="8534402" cy="540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15">
                  <a:extLst>
                    <a:ext uri="{9D8B030D-6E8A-4147-A177-3AD203B41FA5}">
                      <a16:colId xmlns:a16="http://schemas.microsoft.com/office/drawing/2014/main" val="869014333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1247537356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019915915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171562842"/>
                    </a:ext>
                  </a:extLst>
                </a:gridCol>
                <a:gridCol w="1601830">
                  <a:extLst>
                    <a:ext uri="{9D8B030D-6E8A-4147-A177-3AD203B41FA5}">
                      <a16:colId xmlns:a16="http://schemas.microsoft.com/office/drawing/2014/main" val="3139169984"/>
                    </a:ext>
                  </a:extLst>
                </a:gridCol>
              </a:tblGrid>
              <a:tr h="69381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72035"/>
                  </a:ext>
                </a:extLst>
              </a:tr>
              <a:tr h="208977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Online Recruitment Fraud (ORF) Detection Using Deep Learning Approaches  </a:t>
                      </a:r>
                      <a:r>
                        <a:rPr lang="en-US" sz="1200" b="1" dirty="0">
                          <a:latin typeface="+mn-lt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pt-BR" sz="1200" dirty="0">
                          <a:latin typeface="+mn-lt"/>
                          <a:cs typeface="Times New Roman" panose="02020603050405020304" pitchFamily="18" charset="0"/>
                        </a:rPr>
                        <a:t>Omar Ibrahim Aboulola, Ali Daud</a:t>
                      </a:r>
                    </a:p>
                    <a:p>
                      <a:r>
                        <a:rPr lang="pt-BR" sz="1200" b="1" dirty="0">
                          <a:latin typeface="+mn-lt"/>
                          <a:cs typeface="Times New Roman" panose="02020603050405020304" pitchFamily="18" charset="0"/>
                        </a:rPr>
                        <a:t>Date:</a:t>
                      </a:r>
                      <a:r>
                        <a:rPr lang="pt-BR" sz="1200" b="0" dirty="0">
                          <a:latin typeface="+mn-lt"/>
                          <a:cs typeface="Times New Roman" panose="02020603050405020304" pitchFamily="18" charset="0"/>
                        </a:rPr>
                        <a:t>2020 </a:t>
                      </a:r>
                      <a:endParaRPr lang="en-IN" sz="12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Aims to enhance job suitability prediction by using advanced NLP techniques.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Deep Learning (CNN, LSTM), Anomaly Detection (Isolation Forest, DBSCAN)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deep learning and anomaly detection techniques to identify suspicious activities in online recruitment.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AI-powered fraud detection* to improve *security and trust in online hiring.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87492"/>
                  </a:ext>
                </a:extLst>
              </a:tr>
              <a:tr h="2623933">
                <a:tc>
                  <a:txBody>
                    <a:bodyPr/>
                    <a:lstStyle/>
                    <a:p>
                      <a:r>
                        <a:rPr lang="en-US" sz="1400" dirty="0"/>
                        <a:t> </a:t>
                      </a:r>
                      <a:r>
                        <a:rPr lang="en-US" sz="1200" dirty="0"/>
                        <a:t>AI-Based Suitability Measurement and Prediction Between Job Description and Job Seeker Profiles </a:t>
                      </a:r>
                    </a:p>
                    <a:p>
                      <a:r>
                        <a:rPr lang="en-US" sz="1200" dirty="0"/>
                        <a:t> </a:t>
                      </a:r>
                      <a:r>
                        <a:rPr lang="en-US" sz="1200" b="1" dirty="0"/>
                        <a:t>Author</a:t>
                      </a:r>
                      <a:r>
                        <a:rPr lang="en-US" sz="1200" dirty="0"/>
                        <a:t>: Yong     </a:t>
                      </a:r>
                      <a:r>
                        <a:rPr lang="en-US" sz="1200" b="1" dirty="0"/>
                        <a:t>Year</a:t>
                      </a:r>
                      <a:r>
                        <a:rPr lang="en-US" sz="1200" dirty="0"/>
                        <a:t>:2020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Aims to enhance job suitability prediction by using advanced NLP techniques.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TF-IDF, Word2Vec, 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Compares job descriptions with candidate resumes using deep learning for better job matching.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NLP models like BERT and Word2Vec to enhance resume-job suitability analysis, reducing manual effort. 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203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E0A2F7-39B9-99F4-05A3-22E36C345A2D}"/>
              </a:ext>
            </a:extLst>
          </p:cNvPr>
          <p:cNvSpPr txBox="1"/>
          <p:nvPr/>
        </p:nvSpPr>
        <p:spPr>
          <a:xfrm>
            <a:off x="599807" y="54114"/>
            <a:ext cx="80676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LITERATURE  SURVEY</a:t>
            </a:r>
            <a:endParaRPr lang="en-IN" sz="4000" dirty="0"/>
          </a:p>
        </p:txBody>
      </p:sp>
      <p:pic>
        <p:nvPicPr>
          <p:cNvPr id="7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36866BD-EDC8-FD2C-AB89-CF2557D0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173483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557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717842-E26C-5249-FF16-002DBE3D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49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</a:t>
            </a:r>
            <a:r>
              <a:rPr lang="en-US" b="1" dirty="0">
                <a:solidFill>
                  <a:srgbClr val="0000CC"/>
                </a:solidFill>
              </a:rPr>
              <a:t>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A6ACC-6EA9-DAFB-54AC-0741B014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568FD6-9D9B-CA3B-2CFC-972B6625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22"/>
              </p:ext>
            </p:extLst>
          </p:nvPr>
        </p:nvGraphicFramePr>
        <p:xfrm>
          <a:off x="304798" y="765969"/>
          <a:ext cx="8534402" cy="540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15">
                  <a:extLst>
                    <a:ext uri="{9D8B030D-6E8A-4147-A177-3AD203B41FA5}">
                      <a16:colId xmlns:a16="http://schemas.microsoft.com/office/drawing/2014/main" val="869014333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1247537356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019915915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171562842"/>
                    </a:ext>
                  </a:extLst>
                </a:gridCol>
                <a:gridCol w="1601830">
                  <a:extLst>
                    <a:ext uri="{9D8B030D-6E8A-4147-A177-3AD203B41FA5}">
                      <a16:colId xmlns:a16="http://schemas.microsoft.com/office/drawing/2014/main" val="3139169984"/>
                    </a:ext>
                  </a:extLst>
                </a:gridCol>
              </a:tblGrid>
              <a:tr h="69381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72035"/>
                  </a:ext>
                </a:extLst>
              </a:tr>
              <a:tr h="208977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AI Knows You: Deep Learning Model for Prediction of Extroversion Personality Trait</a:t>
                      </a:r>
                    </a:p>
                    <a:p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200" b="1" dirty="0">
                          <a:latin typeface="+mn-lt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: Muhammad   </a:t>
                      </a:r>
                      <a:r>
                        <a:rPr lang="en-IN" sz="1200" b="1" dirty="0">
                          <a:latin typeface="+mn-lt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:2024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Accurately predicting personality traits, such as extroversion, from user-generated content is valuable for personalized services, recruitment, and career counseling.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Bi-LSTM (Bidirectional Long Short-Term Memory)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User-generated content  for linguistic patterns</a:t>
                      </a:r>
                      <a:r>
                        <a:rPr lang="en-IN" sz="1200" baseline="0" dirty="0"/>
                        <a:t> to</a:t>
                      </a:r>
                      <a:r>
                        <a:rPr lang="en-IN" sz="1200" dirty="0"/>
                        <a:t> Captures semantic nuances of text</a:t>
                      </a:r>
                      <a:r>
                        <a:rPr lang="en-IN" sz="1200" baseline="0" dirty="0"/>
                        <a:t> </a:t>
                      </a:r>
                      <a:r>
                        <a:rPr lang="en-IN" sz="1200" dirty="0"/>
                        <a:t>Bi-LSTM model processes sequential data effectively.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deep learning-based personality prediction</a:t>
                      </a:r>
                      <a:r>
                        <a:rPr lang="en-US" sz="1200" b="0" baseline="0" dirty="0"/>
                        <a:t> </a:t>
                      </a:r>
                      <a:r>
                        <a:rPr lang="en-US" sz="1200" b="0" dirty="0"/>
                        <a:t>to improve recruitment and career counseling, allowing better job</a:t>
                      </a:r>
                      <a:r>
                        <a:rPr lang="en-US" sz="1200" b="0" baseline="0" dirty="0"/>
                        <a:t> </a:t>
                      </a:r>
                      <a:r>
                        <a:rPr lang="en-US" sz="1200" b="0" dirty="0"/>
                        <a:t>role matching based on personality traits. 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87492"/>
                  </a:ext>
                </a:extLst>
              </a:tr>
              <a:tr h="2623933">
                <a:tc>
                  <a:txBody>
                    <a:bodyPr/>
                    <a:lstStyle/>
                    <a:p>
                      <a:r>
                        <a:rPr lang="en-US" sz="1200" b="0" dirty="0"/>
                        <a:t>Assessing Intentional Resume Deception: Development and Network of a Resume Fraud Measure</a:t>
                      </a:r>
                    </a:p>
                    <a:p>
                      <a:r>
                        <a:rPr lang="en-US" sz="1200" b="1" dirty="0"/>
                        <a:t>Authors</a:t>
                      </a:r>
                      <a:r>
                        <a:rPr lang="en-US" sz="1200" dirty="0"/>
                        <a:t>: Christine A. Henle, Brian R. Dineen, Michelle K. Duffy</a:t>
                      </a:r>
                    </a:p>
                    <a:p>
                      <a:r>
                        <a:rPr lang="en-US" sz="1200" b="1" dirty="0"/>
                        <a:t> Date</a:t>
                      </a:r>
                      <a:r>
                        <a:rPr lang="en-US" sz="1200" dirty="0"/>
                        <a:t>: February 15, 2019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Developing and validating a measure to empirically investigate intentional misrepresentations in resumes designed to mislead recruiters.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Gradient Boosting Classifier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Focuses on three dimensions of resume fraud: fabrication, embellishment, and omission. Explores the relationship between resume fraud and individual traits such as Machiavellianism and conscientiousness.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study confirms a three-factor structure of resume fraud and provides evidence of construct validity, highlighting that resume fraud predicts reduced job performance and increased workplace deviance.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203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938259-2FDA-4B3B-1B4B-F3A1EDBE83DF}"/>
              </a:ext>
            </a:extLst>
          </p:cNvPr>
          <p:cNvSpPr txBox="1"/>
          <p:nvPr/>
        </p:nvSpPr>
        <p:spPr>
          <a:xfrm>
            <a:off x="599807" y="54114"/>
            <a:ext cx="80676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LITERATURE  SURVEY</a:t>
            </a:r>
            <a:endParaRPr lang="en-IN" sz="4000" dirty="0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36866BD-EDC8-FD2C-AB89-CF2557D0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173483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128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B09A44-52B2-07C0-81A4-30DC20F8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8A44E8-A5A6-21FB-1446-18EAA808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D63385-54D9-D725-ECE6-B9771B94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79299"/>
              </p:ext>
            </p:extLst>
          </p:nvPr>
        </p:nvGraphicFramePr>
        <p:xfrm>
          <a:off x="304798" y="765969"/>
          <a:ext cx="8534402" cy="540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15">
                  <a:extLst>
                    <a:ext uri="{9D8B030D-6E8A-4147-A177-3AD203B41FA5}">
                      <a16:colId xmlns:a16="http://schemas.microsoft.com/office/drawing/2014/main" val="869014333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1247537356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019915915"/>
                    </a:ext>
                  </a:extLst>
                </a:gridCol>
                <a:gridCol w="1708619">
                  <a:extLst>
                    <a:ext uri="{9D8B030D-6E8A-4147-A177-3AD203B41FA5}">
                      <a16:colId xmlns:a16="http://schemas.microsoft.com/office/drawing/2014/main" val="2171562842"/>
                    </a:ext>
                  </a:extLst>
                </a:gridCol>
                <a:gridCol w="1601830">
                  <a:extLst>
                    <a:ext uri="{9D8B030D-6E8A-4147-A177-3AD203B41FA5}">
                      <a16:colId xmlns:a16="http://schemas.microsoft.com/office/drawing/2014/main" val="3139169984"/>
                    </a:ext>
                  </a:extLst>
                </a:gridCol>
              </a:tblGrid>
              <a:tr h="69381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372035"/>
                  </a:ext>
                </a:extLst>
              </a:tr>
              <a:tr h="2089771">
                <a:tc>
                  <a:txBody>
                    <a:bodyPr/>
                    <a:lstStyle/>
                    <a:p>
                      <a:r>
                        <a:rPr lang="en-US" sz="1200" b="0" dirty="0"/>
                        <a:t>Online Recruitment Services: Another Playground for Fraudsters</a:t>
                      </a:r>
                    </a:p>
                    <a:p>
                      <a:r>
                        <a:rPr lang="en-US" sz="1200" b="1" dirty="0"/>
                        <a:t>Authors</a:t>
                      </a:r>
                      <a:r>
                        <a:rPr lang="en-US" sz="1200" dirty="0"/>
                        <a:t>: Georgios </a:t>
                      </a:r>
                      <a:r>
                        <a:rPr lang="en-US" sz="1200" b="1" dirty="0"/>
                        <a:t>Date</a:t>
                      </a:r>
                      <a:r>
                        <a:rPr lang="en-US" sz="1200" dirty="0"/>
                        <a:t>: March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Investigating the characteristics and methods of online recruitment frauds and proposing automated detection mechanisms.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Fraud-BERT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Analysis of real-life fraudulent job advertisements. Proposal of detection mechanisms based on identified characteristics.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study highlights the prevalence of fraud in online recruitment services and suggests that automated detection mechanisms can mitigate the risks posed to job seekers.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87492"/>
                  </a:ext>
                </a:extLst>
              </a:tr>
              <a:tr h="2623933">
                <a:tc>
                  <a:txBody>
                    <a:bodyPr/>
                    <a:lstStyle/>
                    <a:p>
                      <a:r>
                        <a:rPr lang="en-US" sz="1400" dirty="0"/>
                        <a:t> </a:t>
                      </a:r>
                      <a:r>
                        <a:rPr lang="en-US" sz="1200" b="0" dirty="0"/>
                        <a:t>Fake Job Recruitment Detection Using Machine Learning Approach</a:t>
                      </a:r>
                    </a:p>
                    <a:p>
                      <a:r>
                        <a:rPr lang="en-US" sz="1200" b="1" dirty="0"/>
                        <a:t>Authors</a:t>
                      </a:r>
                      <a:r>
                        <a:rPr lang="en-US" sz="1200" dirty="0"/>
                        <a:t>: Sour Dutta</a:t>
                      </a:r>
                    </a:p>
                    <a:p>
                      <a:r>
                        <a:rPr lang="en-US" sz="1200" b="1" dirty="0"/>
                        <a:t> Date</a:t>
                      </a:r>
                      <a:r>
                        <a:rPr lang="en-US" sz="1200" dirty="0"/>
                        <a:t>: April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Developing a machine learning approach to detect fake job recruitments by analyzing job advertisements.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Random Forest (RF) Classifier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Utilizes encoding categories for text representation. Compares various machine learning classifiers and ensemble methods.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Random Forest classifier delivered the best performance with an accuracy of 98.27%, indicating its effectiveness in detecting fake job recruitments.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203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727BE1-323A-14FA-FC21-3F29E606915B}"/>
              </a:ext>
            </a:extLst>
          </p:cNvPr>
          <p:cNvSpPr txBox="1"/>
          <p:nvPr/>
        </p:nvSpPr>
        <p:spPr>
          <a:xfrm>
            <a:off x="599807" y="54114"/>
            <a:ext cx="80676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LITERATURE  SURVEY</a:t>
            </a:r>
            <a:endParaRPr lang="en-IN" sz="4000" dirty="0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36866BD-EDC8-FD2C-AB89-CF2557D0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173483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180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8D27E9E-F46D-B54E-7851-C3B30A69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8912"/>
            <a:ext cx="8610600" cy="649288"/>
          </a:xfrm>
        </p:spPr>
        <p:txBody>
          <a:bodyPr/>
          <a:lstStyle/>
          <a:p>
            <a:pPr algn="ctr"/>
            <a:r>
              <a:rPr lang="en-IN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ABSTRACT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B05B648-E953-D284-D378-53DAA8143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762000"/>
            <a:ext cx="8495211" cy="5181600"/>
          </a:xfrm>
        </p:spPr>
        <p:txBody>
          <a:bodyPr/>
          <a:lstStyle/>
          <a:p>
            <a:pPr marL="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rise of online job applications has led to an increase in fake or manipulated resumes, making it essential to verify their authenticity.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system leverages AI and machine learning to analyze resumes for inconsistencies, plagiarism, and falsified credentials.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cross-checks information with publicly available data, company records, and professional networking platforms.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 extracts and validates textual data from uploaded documents.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 Language Processing (NLP) identifies anomalies in experience, skills, and job history.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models detect forged documents and mismatched details.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Cryptography technology can enhance security by storing verified credentials in an immutable format.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Employers can receive a reliability score for each resume, improving hiring efficiency.  </a:t>
            </a:r>
          </a:p>
          <a:p>
            <a:pPr algn="just">
              <a:buClr>
                <a:schemeClr val="tx1"/>
              </a:buCl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approach reduces hiring risks, prevents fraud, and ensures genuine candidate selection.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6A87E-1AE1-8327-25EE-AE91DF6A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9400" y="6356350"/>
            <a:ext cx="46101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F4590FC5-818E-23CE-645C-219246801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924800" y="6303963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8FF4DA4-26D4-4A12-93CD-75F5C57F07CC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7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2560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8E217266-2EE9-F633-CBCC-B4AE27128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43613"/>
            <a:ext cx="1754188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48A815F-A5F4-C71D-5099-2B172E6D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6" y="228600"/>
            <a:ext cx="8522107" cy="609600"/>
          </a:xfrm>
        </p:spPr>
        <p:txBody>
          <a:bodyPr/>
          <a:lstStyle/>
          <a:p>
            <a:pPr algn="ctr"/>
            <a:r>
              <a:rPr lang="en-IN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EXISTING SYSTEM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CC7C6A5F-13E5-3BD6-CE8E-0E5C3B05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46909"/>
            <a:ext cx="8153399" cy="4696691"/>
          </a:xfrm>
        </p:spPr>
        <p:txBody>
          <a:bodyPr/>
          <a:lstStyle/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Job recommendation uses TF-IDF and rule based filtering which results in low accuracy in matching candidates with jobs.</a:t>
            </a:r>
          </a:p>
          <a:p>
            <a:pPr marL="0" lvl="0" indent="0">
              <a:buClr>
                <a:schemeClr val="tx1"/>
              </a:buClr>
              <a:buNone/>
            </a:pPr>
            <a:endParaRPr lang="en-US" sz="2000" dirty="0"/>
          </a:p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Resume analysis relies on manual verification and keyword matching which makes fake resume detection inefficient.</a:t>
            </a:r>
          </a:p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/>
              <a:t>Fraud detection uses K-Means Clustering and Naïve Bayes which are not effective for real time fraud detection.</a:t>
            </a:r>
          </a:p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(like basic ATS platforms)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support scanned or image-based resume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65437-1D93-7FC1-080E-92C16045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6600" y="6215783"/>
            <a:ext cx="4343400" cy="273050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5923EE7C-CB69-F8AE-A275-B942D2346A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3F856AF-0D78-451F-890F-4370BAB95097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8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26630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1AE4FF3-FB61-70AA-C343-8928ED4F5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42" y="6029252"/>
            <a:ext cx="17541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BB0E224-A848-D508-40A8-A8280675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6526"/>
            <a:ext cx="8763000" cy="768350"/>
          </a:xfrm>
        </p:spPr>
        <p:txBody>
          <a:bodyPr/>
          <a:lstStyle/>
          <a:p>
            <a:pPr algn="ctr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 PROPOSED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F3F54-45B0-30A7-7718-855286EE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4494" y="6172880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938D8F3F-9805-8542-4D8C-95ED9A80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1F5A69F-9907-45D7-A612-4191164278E1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9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sp>
        <p:nvSpPr>
          <p:cNvPr id="28677" name="Content Placeholder 6">
            <a:extLst>
              <a:ext uri="{FF2B5EF4-FFF2-40B4-BE49-F238E27FC236}">
                <a16:creationId xmlns:a16="http://schemas.microsoft.com/office/drawing/2014/main" id="{10C4CE9C-5B8E-8AE3-B557-2EBDCCA3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95400"/>
            <a:ext cx="8153400" cy="4495800"/>
          </a:xfrm>
        </p:spPr>
        <p:txBody>
          <a:bodyPr/>
          <a:lstStyle/>
          <a:p>
            <a:pPr lvl="0">
              <a:buClr>
                <a:schemeClr val="tx1"/>
              </a:buClr>
            </a:pPr>
            <a:r>
              <a:rPr lang="en-IN" sz="1800" dirty="0"/>
              <a:t>Job recommendation uses BERT and Optimal Transport Algorithm to improve job candidate matching.</a:t>
            </a:r>
          </a:p>
          <a:p>
            <a:pPr lvl="0">
              <a:buClr>
                <a:schemeClr val="tx1"/>
              </a:buClr>
            </a:pPr>
            <a:endParaRPr lang="en-US" sz="1800" dirty="0"/>
          </a:p>
          <a:p>
            <a:pPr lvl="0">
              <a:buClr>
                <a:schemeClr val="tx1"/>
              </a:buClr>
            </a:pPr>
            <a:r>
              <a:rPr lang="en-IN" sz="1800" dirty="0"/>
              <a:t>Resume analysis implements Random Forest and CNN models to detect fake or manipulated resumes.</a:t>
            </a:r>
          </a:p>
          <a:p>
            <a:pPr lvl="0">
              <a:buClr>
                <a:schemeClr val="tx1"/>
              </a:buClr>
            </a:pPr>
            <a:endParaRPr lang="en-US" sz="1800" dirty="0"/>
          </a:p>
          <a:p>
            <a:pPr lvl="0">
              <a:buClr>
                <a:schemeClr val="tx1"/>
              </a:buClr>
            </a:pPr>
            <a:r>
              <a:rPr lang="en-IN" sz="1800" dirty="0"/>
              <a:t>Fraud detection uses CNN, LSTM, and Isolation Forest to identify fake job postings and scams.</a:t>
            </a:r>
          </a:p>
          <a:p>
            <a:pPr>
              <a:buClr>
                <a:schemeClr val="tx1"/>
              </a:buClr>
            </a:pPr>
            <a:endParaRPr lang="en-US" sz="1800" dirty="0"/>
          </a:p>
          <a:p>
            <a:pPr>
              <a:buClr>
                <a:schemeClr val="tx1"/>
              </a:buClr>
            </a:pPr>
            <a:r>
              <a:rPr lang="en-IN" sz="1800" b="1" dirty="0"/>
              <a:t>Hybrid Model (CNN + LSTM)</a:t>
            </a:r>
            <a:r>
              <a:rPr lang="en-IN" sz="1800" dirty="0"/>
              <a:t>: Combines image and text analysis to detect both structural and content-based fraud.</a:t>
            </a:r>
          </a:p>
          <a:p>
            <a:pPr marL="0" indent="0">
              <a:buClr>
                <a:schemeClr val="tx1"/>
              </a:buClr>
              <a:buNone/>
            </a:pPr>
            <a:endParaRPr lang="en-IN" sz="1800" dirty="0"/>
          </a:p>
          <a:p>
            <a:pPr lvl="0">
              <a:buClr>
                <a:schemeClr val="tx1"/>
              </a:buClr>
            </a:pPr>
            <a:r>
              <a:rPr lang="en-US" sz="1800" dirty="0"/>
              <a:t>Document forgery detection using image processing techniques (CV) to detect fake scanned documents.</a:t>
            </a:r>
          </a:p>
          <a:p>
            <a:pPr algn="just">
              <a:buClr>
                <a:schemeClr val="tx1"/>
              </a:buClr>
            </a:pPr>
            <a:endParaRPr lang="en-US" alt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2">
                  <a:lumMod val="75000"/>
                </a:schemeClr>
              </a:buClr>
            </a:pPr>
            <a:endParaRPr lang="en-US" alt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2">
                  <a:lumMod val="75000"/>
                </a:schemeClr>
              </a:buClr>
            </a:pPr>
            <a:endParaRPr lang="en-US" alt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8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CB980763-B55A-CDC9-F846-F68662843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973763"/>
            <a:ext cx="17541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874E874-C626-6E53-CFC8-F63F76C2F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599" cy="688976"/>
          </a:xfrm>
        </p:spPr>
        <p:txBody>
          <a:bodyPr/>
          <a:lstStyle/>
          <a:p>
            <a:pPr algn="ctr" eaLnBrk="1" fontAlgn="t" hangingPunct="1"/>
            <a:r>
              <a:rPr lang="en-US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Architecture diagram</a:t>
            </a:r>
          </a:p>
        </p:txBody>
      </p:sp>
      <p:sp>
        <p:nvSpPr>
          <p:cNvPr id="18436" name="Footer Placeholder 4">
            <a:extLst>
              <a:ext uri="{FF2B5EF4-FFF2-40B4-BE49-F238E27FC236}">
                <a16:creationId xmlns:a16="http://schemas.microsoft.com/office/drawing/2014/main" id="{3AB374BB-97AB-C49B-0C98-438D15BD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276600" y="6356350"/>
            <a:ext cx="3962400" cy="27305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0000CC"/>
                </a:solidFill>
                <a:latin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825A2418-378C-D212-3E2C-3DEE3EA869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D1EC17E-E628-44B3-A465-9ED3AA1066F3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10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29702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B7CBE335-C2B3-E59C-F172-D41FACC2E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70740"/>
            <a:ext cx="1981200" cy="811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30B60A-C3D5-846E-8E8F-8E7802DAB037}"/>
              </a:ext>
            </a:extLst>
          </p:cNvPr>
          <p:cNvSpPr/>
          <p:nvPr/>
        </p:nvSpPr>
        <p:spPr>
          <a:xfrm>
            <a:off x="1447800" y="1676400"/>
            <a:ext cx="3048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Google Shape;126;p3">
            <a:extLst>
              <a:ext uri="{FF2B5EF4-FFF2-40B4-BE49-F238E27FC236}">
                <a16:creationId xmlns:a16="http://schemas.microsoft.com/office/drawing/2014/main" id="{764DBF46-C490-55F8-A10B-1C5419FF8D5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382604" y="1329467"/>
            <a:ext cx="688856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8D27E9E-F46D-B54E-7851-C3B30A69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876" y="228600"/>
            <a:ext cx="6457950" cy="486966"/>
          </a:xfrm>
        </p:spPr>
        <p:txBody>
          <a:bodyPr/>
          <a:lstStyle/>
          <a:p>
            <a:pPr algn="ctr"/>
            <a:r>
              <a:rPr lang="en-IN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MODULES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6A87E-1AE1-8327-25EE-AE91DF6A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6032896"/>
            <a:ext cx="4514850" cy="469106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F4590FC5-818E-23CE-645C-219246801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5585223"/>
            <a:ext cx="5715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8FF4DA4-26D4-4A12-93CD-75F5C57F07CC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11</a:t>
            </a:fld>
            <a:endParaRPr lang="en-US" altLang="en-US" dirty="0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2560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8E217266-2EE9-F633-CBCC-B4AE27128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4" y="6062361"/>
            <a:ext cx="1600200" cy="59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19EF9-BAF0-09EC-F82D-3B4992FFE3D0}"/>
              </a:ext>
            </a:extLst>
          </p:cNvPr>
          <p:cNvSpPr txBox="1"/>
          <p:nvPr/>
        </p:nvSpPr>
        <p:spPr>
          <a:xfrm>
            <a:off x="381000" y="998933"/>
            <a:ext cx="7848600" cy="48013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buClr>
                <a:schemeClr val="bg2">
                  <a:lumMod val="75000"/>
                </a:schemeClr>
              </a:buClr>
            </a:pPr>
            <a:r>
              <a:rPr lang="en-IN" dirty="0"/>
              <a:t>                </a:t>
            </a:r>
            <a:r>
              <a:rPr lang="en-IN" sz="2400" b="1" dirty="0"/>
              <a:t>Data Collection &amp; Preprocessing Module</a:t>
            </a:r>
          </a:p>
          <a:p>
            <a:pPr algn="just">
              <a:buClr>
                <a:schemeClr val="bg2">
                  <a:lumMod val="75000"/>
                </a:schemeClr>
              </a:buClr>
            </a:pPr>
            <a:endParaRPr lang="en-IN" b="1" dirty="0"/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/>
              <a:t>    </a:t>
            </a:r>
            <a:r>
              <a:rPr lang="en-IN" dirty="0">
                <a:latin typeface="Constantia" panose="02030602050306030303" pitchFamily="18" charset="0"/>
              </a:rPr>
              <a:t>Gather and clean resume data Collect real &amp; fake resumes from multiple    sources text cleaning (removing special characters, numbers, word).Apply tokenization and lemmatization for structured </a:t>
            </a:r>
            <a:r>
              <a:rPr lang="en-IN" dirty="0" err="1">
                <a:latin typeface="Constantia" panose="02030602050306030303" pitchFamily="18" charset="0"/>
              </a:rPr>
              <a:t>textConvert</a:t>
            </a:r>
            <a:r>
              <a:rPr lang="en-IN" dirty="0">
                <a:latin typeface="Constantia" panose="02030602050306030303" pitchFamily="18" charset="0"/>
              </a:rPr>
              <a:t> text into numerical representation using TF-IDF, Word2Vec, or BERT 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b="1" dirty="0">
                <a:latin typeface="Constantia" panose="02030602050306030303" pitchFamily="18" charset="0"/>
              </a:rPr>
              <a:t>Tech Stack: </a:t>
            </a:r>
            <a:r>
              <a:rPr lang="en-IN" dirty="0">
                <a:latin typeface="Constantia" panose="02030602050306030303" pitchFamily="18" charset="0"/>
              </a:rPr>
              <a:t>Python, Pandas, NLTK.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/>
              <a:t>                        </a:t>
            </a:r>
            <a:r>
              <a:rPr lang="en-IN" sz="2400" b="1" dirty="0"/>
              <a:t>Feature Extraction Module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sz="2400" b="1" dirty="0"/>
              <a:t>   </a:t>
            </a:r>
            <a:r>
              <a:rPr lang="en-IN" dirty="0">
                <a:latin typeface="Constantia" panose="02030602050306030303" pitchFamily="18" charset="0"/>
              </a:rPr>
              <a:t>Objective: Extract key resume features for fake detection.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>
                <a:latin typeface="Constantia" panose="02030602050306030303" pitchFamily="18" charset="0"/>
              </a:rPr>
              <a:t>     Detection: Compare job role vs. experience.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>
                <a:latin typeface="Constantia" panose="02030602050306030303" pitchFamily="18" charset="0"/>
              </a:rPr>
              <a:t>     Education Validation: Identify inconsistencies in degrees, universities 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>
                <a:latin typeface="Constantia" panose="02030602050306030303" pitchFamily="18" charset="0"/>
              </a:rPr>
              <a:t>     and certificate                 </a:t>
            </a:r>
          </a:p>
          <a:p>
            <a:pPr>
              <a:buClr>
                <a:schemeClr val="bg2">
                  <a:lumMod val="75000"/>
                </a:schemeClr>
              </a:buClr>
            </a:pPr>
            <a:r>
              <a:rPr lang="en-IN" dirty="0">
                <a:latin typeface="Constantia" panose="02030602050306030303" pitchFamily="18" charset="0"/>
              </a:rPr>
              <a:t>     Keyword Density Check: Identify overuse of technical keywords                                                                                                Grammar &amp; Plagiarism Check: Use NLP-based models for text similarity detection.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6400800" cy="685800"/>
          </a:xfrm>
        </p:spPr>
        <p:txBody>
          <a:bodyPr/>
          <a:lstStyle/>
          <a:p>
            <a:r>
              <a:rPr lang="en-IN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       MODULES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5137"/>
            <a:ext cx="8229600" cy="50422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                                    </a:t>
            </a:r>
            <a:r>
              <a:rPr lang="en-US" sz="2400" b="1" dirty="0"/>
              <a:t>Model Training Module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Objective</a:t>
            </a:r>
            <a:r>
              <a:rPr lang="en-US" sz="1800" dirty="0"/>
              <a:t>: Train ML/DL models to classify resumes as real or fake.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Select ML/DL models: </a:t>
            </a:r>
          </a:p>
          <a:p>
            <a:pPr lvl="1"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Random Forest</a:t>
            </a:r>
            <a:r>
              <a:rPr lang="en-US" sz="1800" dirty="0"/>
              <a:t> – for structured data features.</a:t>
            </a:r>
          </a:p>
          <a:p>
            <a:pPr lvl="1"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CNN</a:t>
            </a:r>
            <a:r>
              <a:rPr lang="en-US" sz="1800" dirty="0"/>
              <a:t> – for scanned document fraud detection.</a:t>
            </a:r>
          </a:p>
          <a:p>
            <a:pPr lvl="1"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b="1" dirty="0"/>
              <a:t> LSTM/</a:t>
            </a:r>
            <a:r>
              <a:rPr lang="en-US" sz="1800" b="1" dirty="0" err="1"/>
              <a:t>BiLSTM</a:t>
            </a:r>
            <a:r>
              <a:rPr lang="en-US" sz="1800" dirty="0"/>
              <a:t> – for sequential text analysis.</a:t>
            </a:r>
          </a:p>
          <a:p>
            <a:pPr lvl="1"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Hybrid Model (CNN + LSTM)</a:t>
            </a:r>
            <a:r>
              <a:rPr lang="en-US" sz="1800" dirty="0"/>
              <a:t> – to handle both structured &amp; unstructured data.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Train models on the dataset and fine-tune </a:t>
            </a:r>
            <a:r>
              <a:rPr lang="en-US" sz="1800" dirty="0" err="1"/>
              <a:t>hyperparameters</a:t>
            </a:r>
            <a:r>
              <a:rPr lang="en-US" sz="1800" dirty="0"/>
              <a:t>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Perform cross-validation and evaluate using accuracy, F1-score, ROC-AUC </a:t>
            </a:r>
            <a:r>
              <a:rPr lang="en-US" sz="1800" b="1" dirty="0"/>
              <a:t>curve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 </a:t>
            </a:r>
            <a:r>
              <a:rPr lang="en-US" sz="1800" b="1" dirty="0"/>
              <a:t>Tech Stack</a:t>
            </a:r>
            <a:r>
              <a:rPr lang="en-US" sz="1800" dirty="0"/>
              <a:t>: </a:t>
            </a:r>
            <a:r>
              <a:rPr lang="en-US" sz="1800" dirty="0" err="1"/>
              <a:t>TensorFlow</a:t>
            </a:r>
            <a:r>
              <a:rPr lang="en-US" sz="1800" dirty="0"/>
              <a:t>, </a:t>
            </a:r>
            <a:r>
              <a:rPr lang="en-US" sz="1800" dirty="0" err="1"/>
              <a:t>PyTorch</a:t>
            </a:r>
            <a:r>
              <a:rPr lang="en-US" sz="1800" dirty="0"/>
              <a:t>, </a:t>
            </a:r>
            <a:r>
              <a:rPr lang="en-US" sz="1800" dirty="0" err="1"/>
              <a:t>Scikit</a:t>
            </a:r>
            <a:r>
              <a:rPr lang="en-US" sz="1800" dirty="0"/>
              <a:t>-learn, </a:t>
            </a:r>
            <a:r>
              <a:rPr lang="en-US" sz="1800" dirty="0" err="1"/>
              <a:t>XGBoost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10000" y="6173787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92B2A-F86D-4783-ABEE-CF1B3897A144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F7F03B1-EDAD-AF41-8CFF-8AB610305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867400"/>
            <a:ext cx="1905000" cy="82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4701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8303"/>
            <a:ext cx="5562600" cy="762000"/>
          </a:xfrm>
        </p:spPr>
        <p:txBody>
          <a:bodyPr/>
          <a:lstStyle/>
          <a:p>
            <a:r>
              <a:rPr lang="en-IN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      MODULES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4582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                                    </a:t>
            </a:r>
            <a:r>
              <a:rPr lang="en-US" sz="2400" b="1" dirty="0"/>
              <a:t>Resume Verification Module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Objective</a:t>
            </a:r>
            <a:r>
              <a:rPr lang="en-US" sz="1800" dirty="0"/>
              <a:t>: Validate details in the resume.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Cross-check resumes with LinkedIn/GitHub profiles (API-based validation).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Verify company names and job roles using online job databases (e.g., Glassdoor, LinkedIn).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Check for duplicate resumes using hash-based matching.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b="1" dirty="0"/>
              <a:t>     Tech Stack</a:t>
            </a:r>
            <a:r>
              <a:rPr lang="en-US" sz="1800" dirty="0"/>
              <a:t>: Selenium, Web Scraping, PostgreSQL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b="1" dirty="0"/>
              <a:t>                  </a:t>
            </a:r>
            <a:r>
              <a:rPr lang="en-US" sz="2400" b="1" dirty="0"/>
              <a:t>Fraud Detection &amp; Anomaly Detection Module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Objective</a:t>
            </a:r>
            <a:r>
              <a:rPr lang="en-US" sz="1800" dirty="0"/>
              <a:t>: Detect fake resumes using anomaly detection techniques.</a:t>
            </a:r>
            <a:br>
              <a:rPr lang="en-US" sz="1800" dirty="0"/>
            </a:br>
            <a:r>
              <a:rPr lang="en-US" sz="1800" dirty="0"/>
              <a:t>Implement Isolation Forest &amp; </a:t>
            </a:r>
            <a:r>
              <a:rPr lang="en-US" sz="1800" dirty="0" err="1"/>
              <a:t>Autoencoders</a:t>
            </a:r>
            <a:r>
              <a:rPr lang="en-US" sz="1800" dirty="0"/>
              <a:t> to detect anomalies.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Use One-Class SVM to identify resumes with unrealistic data.</a:t>
            </a:r>
          </a:p>
          <a:p>
            <a:pPr>
              <a:buClr>
                <a:schemeClr val="tx1"/>
              </a:buClr>
              <a:buSzPct val="134000"/>
              <a:buFont typeface="Arial" panose="020B0604020202020204" pitchFamily="34" charset="0"/>
              <a:buChar char="•"/>
            </a:pPr>
            <a:r>
              <a:rPr lang="en-US" sz="1800" dirty="0"/>
              <a:t>Detect copy-pasted job experiences &amp; skills using NLP similarity measures.</a:t>
            </a:r>
            <a:br>
              <a:rPr lang="en-US" sz="1800" dirty="0"/>
            </a:br>
            <a:r>
              <a:rPr lang="en-US" sz="1800" b="1" dirty="0"/>
              <a:t>Tech Stack</a:t>
            </a:r>
            <a:r>
              <a:rPr lang="en-US" sz="1800" dirty="0"/>
              <a:t>: </a:t>
            </a:r>
            <a:r>
              <a:rPr lang="en-US" sz="1800" dirty="0" err="1"/>
              <a:t>Scikit</a:t>
            </a:r>
            <a:r>
              <a:rPr lang="en-US" sz="1800" dirty="0"/>
              <a:t>-learn, </a:t>
            </a:r>
            <a:r>
              <a:rPr lang="en-US" sz="1800" dirty="0" err="1"/>
              <a:t>TensorFlow</a:t>
            </a:r>
            <a:r>
              <a:rPr lang="en-US" sz="1800" dirty="0"/>
              <a:t>, </a:t>
            </a:r>
            <a:r>
              <a:rPr lang="en-US" sz="1800" dirty="0" err="1"/>
              <a:t>Keras</a:t>
            </a:r>
            <a:r>
              <a:rPr lang="en-US" sz="1800" dirty="0"/>
              <a:t>, </a:t>
            </a:r>
            <a:r>
              <a:rPr lang="en-US" sz="1800" dirty="0" err="1"/>
              <a:t>Autoencoders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735114" y="6142038"/>
            <a:ext cx="4342085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92B2A-F86D-4783-ABEE-CF1B3897A14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F7F03B1-EDAD-AF41-8CFF-8AB610305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958250"/>
            <a:ext cx="2012950" cy="73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49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5334000" cy="666750"/>
          </a:xfrm>
        </p:spPr>
        <p:txBody>
          <a:bodyPr/>
          <a:lstStyle/>
          <a:p>
            <a:r>
              <a:rPr lang="en-IN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           MODULES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29719"/>
            <a:ext cx="8229600" cy="5113881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                                  </a:t>
            </a:r>
            <a:r>
              <a:rPr lang="en-US" sz="2400" b="1" dirty="0"/>
              <a:t>User Interface (Web Portal) Module</a:t>
            </a:r>
            <a:br>
              <a:rPr lang="en-US" sz="2400" b="1" dirty="0"/>
            </a:br>
            <a:endParaRPr lang="en-US" sz="2400" b="1" dirty="0"/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   Upload &amp; scan resumes in PDF, DOCX, and image formats.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   Display real-time fraud detection scores with insights.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b="1" dirty="0"/>
              <a:t>    </a:t>
            </a:r>
            <a:r>
              <a:rPr lang="en-US" sz="1800" dirty="0"/>
              <a:t>Build a web-based interface for HR/recruiters.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    Provide suggestions to HR on suspicious resumes.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b="1" dirty="0"/>
              <a:t>Tech Stack: </a:t>
            </a:r>
            <a:r>
              <a:rPr lang="en-US" sz="1800" dirty="0" err="1"/>
              <a:t>Html,Css</a:t>
            </a:r>
            <a:r>
              <a:rPr lang="en-US" sz="1800" dirty="0"/>
              <a:t>, JavaScript, Flask, MySQL.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b="1" dirty="0"/>
              <a:t>                              </a:t>
            </a:r>
            <a:r>
              <a:rPr lang="en-US" sz="2400" b="1" dirty="0"/>
              <a:t>Deployment Module</a:t>
            </a:r>
            <a:br>
              <a:rPr lang="en-US" sz="2400" b="1" dirty="0"/>
            </a:br>
            <a:endParaRPr lang="en-US" sz="2400" b="1" dirty="0"/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b="1" dirty="0"/>
              <a:t>Objective</a:t>
            </a:r>
            <a:r>
              <a:rPr lang="en-US" sz="1800" dirty="0"/>
              <a:t>: Deploy the model and integrate with systems.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Build a REST API for third-party HR applications.</a:t>
            </a:r>
          </a:p>
          <a:p>
            <a:pPr>
              <a:buClr>
                <a:schemeClr val="tx1"/>
              </a:buClr>
              <a:buSzPct val="138000"/>
              <a:buFont typeface="Arial" panose="020B0604020202020204" pitchFamily="34" charset="0"/>
              <a:buChar char="•"/>
            </a:pPr>
            <a:r>
              <a:rPr lang="en-US" sz="1800" dirty="0"/>
              <a:t>Monitor performance &amp; feedback loop to improve detection.</a:t>
            </a:r>
            <a:br>
              <a:rPr lang="en-US" sz="1800" dirty="0"/>
            </a:br>
            <a:r>
              <a:rPr lang="en-US" sz="1800" dirty="0"/>
              <a:t> </a:t>
            </a:r>
            <a:r>
              <a:rPr lang="en-US" sz="1800" b="1" dirty="0"/>
              <a:t>Tech Stack</a:t>
            </a:r>
            <a:r>
              <a:rPr lang="en-US" sz="1800" dirty="0"/>
              <a:t>: Docker, Kubernetes.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57600" y="6148614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92B2A-F86D-4783-ABEE-CF1B3897A14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F7F03B1-EDAD-AF41-8CFF-8AB610305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62806"/>
            <a:ext cx="1648421" cy="835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392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7EA98013-8849-08B4-4C03-5BA7DAB0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21" y="0"/>
            <a:ext cx="8991600" cy="914400"/>
          </a:xfrm>
        </p:spPr>
        <p:txBody>
          <a:bodyPr/>
          <a:lstStyle/>
          <a:p>
            <a:pPr algn="ctr"/>
            <a:r>
              <a:rPr lang="en-IN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ALGORITHMS         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A436B-5EFD-1C93-9C2B-1673F600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1800" y="6248400"/>
            <a:ext cx="4267200" cy="381000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6DEAE474-F178-6F96-EDA1-F94352EBD7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8B37833-951A-4BDD-9027-1BA647676306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15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37894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4C2C2472-EDDA-360F-E81E-EAD238BC9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48400"/>
            <a:ext cx="175418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9BE106-73F4-D3A7-9E06-263C05E2260D}"/>
              </a:ext>
            </a:extLst>
          </p:cNvPr>
          <p:cNvSpPr txBox="1"/>
          <p:nvPr/>
        </p:nvSpPr>
        <p:spPr>
          <a:xfrm>
            <a:off x="762000" y="1126538"/>
            <a:ext cx="8077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1: Data Collection </a:t>
            </a:r>
          </a:p>
          <a:p>
            <a:endParaRPr lang="en-IN" b="1" dirty="0"/>
          </a:p>
          <a:p>
            <a:r>
              <a:rPr lang="en-IN" dirty="0"/>
              <a:t>             Gather resumes from various sources (job portals, company     databases, etc.).</a:t>
            </a:r>
          </a:p>
          <a:p>
            <a:endParaRPr lang="en-IN" dirty="0"/>
          </a:p>
          <a:p>
            <a:r>
              <a:rPr lang="en-IN" dirty="0"/>
              <a:t>             Include both real and fake resumes to ensure balanced learning</a:t>
            </a:r>
          </a:p>
          <a:p>
            <a:r>
              <a:rPr lang="en-IN" dirty="0"/>
              <a:t>            Store them in a structured format (e.g., JSON, CSV, or database).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46477-F5AC-8DD1-1B13-3832CB8040B4}"/>
              </a:ext>
            </a:extLst>
          </p:cNvPr>
          <p:cNvSpPr txBox="1"/>
          <p:nvPr/>
        </p:nvSpPr>
        <p:spPr>
          <a:xfrm>
            <a:off x="685800" y="3157863"/>
            <a:ext cx="8184361" cy="325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2: Data Preprocessing </a:t>
            </a:r>
          </a:p>
          <a:p>
            <a:endParaRPr lang="en-IN" b="1" dirty="0"/>
          </a:p>
          <a:p>
            <a:r>
              <a:rPr lang="en-IN" dirty="0"/>
              <a:t>            </a:t>
            </a:r>
            <a:r>
              <a:rPr lang="en-US" dirty="0"/>
              <a:t>Convert resumes into a uniform format (PDF to text if needed).</a:t>
            </a:r>
          </a:p>
          <a:p>
            <a:endParaRPr lang="en-US" dirty="0"/>
          </a:p>
          <a:p>
            <a:r>
              <a:rPr lang="en-US" dirty="0"/>
              <a:t>            Remove noise such as special characters, headers/footers.</a:t>
            </a:r>
          </a:p>
          <a:p>
            <a:endParaRPr lang="en-US" dirty="0"/>
          </a:p>
          <a:p>
            <a:r>
              <a:rPr lang="en-US" dirty="0"/>
              <a:t>            Normalize text (lowercasing, removing stop words, stemming/lemmatization).</a:t>
            </a:r>
          </a:p>
          <a:p>
            <a:endParaRPr lang="en-US" dirty="0"/>
          </a:p>
          <a:p>
            <a:r>
              <a:rPr lang="en-US" dirty="0"/>
              <a:t>            For image-based resumes, convert images to grayscale or suitable format.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F631C-6948-E33F-7C5D-8F6DD3F2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7338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+mj-lt"/>
              </a:rPr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02D4A-D34A-DF65-E366-0237DEB1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92B2A-F86D-4783-ABEE-CF1B3897A14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55D99-FF1F-32EE-ED3F-60132DDDE99A}"/>
              </a:ext>
            </a:extLst>
          </p:cNvPr>
          <p:cNvSpPr txBox="1"/>
          <p:nvPr/>
        </p:nvSpPr>
        <p:spPr>
          <a:xfrm>
            <a:off x="838200" y="1703437"/>
            <a:ext cx="7391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3: Feature Engineering</a:t>
            </a:r>
          </a:p>
          <a:p>
            <a:endParaRPr lang="en-IN" b="1" dirty="0"/>
          </a:p>
          <a:p>
            <a:r>
              <a:rPr lang="en-IN" dirty="0"/>
              <a:t>            Extract important features (name, education, experience, skills, etc.).</a:t>
            </a:r>
          </a:p>
          <a:p>
            <a:endParaRPr lang="en-IN" dirty="0"/>
          </a:p>
          <a:p>
            <a:r>
              <a:rPr lang="en-IN" dirty="0"/>
              <a:t>            Use NLP techniques (TF-IDF, word embeddings like Word2Vec, BERT). For images, use pixel-level or deep feature extraction methods (CNN-based).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208AB-C9BC-38DF-CD8F-09FC24079E7D}"/>
              </a:ext>
            </a:extLst>
          </p:cNvPr>
          <p:cNvSpPr txBox="1"/>
          <p:nvPr/>
        </p:nvSpPr>
        <p:spPr>
          <a:xfrm>
            <a:off x="2362200" y="381000"/>
            <a:ext cx="464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ALGORITHMS </a:t>
            </a:r>
            <a:endParaRPr lang="en-IN" sz="3600" dirty="0"/>
          </a:p>
        </p:txBody>
      </p:sp>
      <p:pic>
        <p:nvPicPr>
          <p:cNvPr id="12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7E17D851-0AFE-AC80-9058-3CBAEB898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48400"/>
            <a:ext cx="175418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119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FD830F-0EC9-974E-E530-45ED12A2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10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+mj-lt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110D29-835C-F190-8FC8-81C18647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E8BCD-30D0-07A1-4F48-1D2ABDDAE0B3}"/>
              </a:ext>
            </a:extLst>
          </p:cNvPr>
          <p:cNvSpPr txBox="1"/>
          <p:nvPr/>
        </p:nvSpPr>
        <p:spPr>
          <a:xfrm>
            <a:off x="2514600" y="30480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ALGORITHMS 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54C5E-A6E5-62EF-92CE-156BCDF6A043}"/>
              </a:ext>
            </a:extLst>
          </p:cNvPr>
          <p:cNvSpPr txBox="1"/>
          <p:nvPr/>
        </p:nvSpPr>
        <p:spPr>
          <a:xfrm>
            <a:off x="990600" y="1066800"/>
            <a:ext cx="76897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4: Model Evaluation </a:t>
            </a:r>
          </a:p>
          <a:p>
            <a:endParaRPr lang="en-IN" b="1" dirty="0"/>
          </a:p>
          <a:p>
            <a:r>
              <a:rPr lang="en-IN" dirty="0"/>
              <a:t>             Evaluate models using metrics such as accuracy, precision, recall, and F1-score. </a:t>
            </a:r>
          </a:p>
          <a:p>
            <a:endParaRPr lang="en-IN" dirty="0"/>
          </a:p>
          <a:p>
            <a:r>
              <a:rPr lang="en-IN" dirty="0"/>
              <a:t>             Use cross-validation to test generalizability. </a:t>
            </a:r>
          </a:p>
          <a:p>
            <a:r>
              <a:rPr lang="en-IN" dirty="0"/>
              <a:t>             </a:t>
            </a:r>
            <a:r>
              <a:rPr lang="en-IN" dirty="0" err="1"/>
              <a:t>Analyze</a:t>
            </a:r>
            <a:r>
              <a:rPr lang="en-IN" dirty="0"/>
              <a:t> confusion matrix for error patterns (false positives/negatives).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00C9A-CD14-1035-C536-BE0756699C01}"/>
              </a:ext>
            </a:extLst>
          </p:cNvPr>
          <p:cNvSpPr txBox="1"/>
          <p:nvPr/>
        </p:nvSpPr>
        <p:spPr>
          <a:xfrm>
            <a:off x="907942" y="3581400"/>
            <a:ext cx="79105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5: Deployment &amp; Integration </a:t>
            </a:r>
          </a:p>
          <a:p>
            <a:endParaRPr lang="en-IN" dirty="0"/>
          </a:p>
          <a:p>
            <a:r>
              <a:rPr lang="en-IN" dirty="0"/>
              <a:t>            Enable real-time processing of incoming resumes.</a:t>
            </a:r>
          </a:p>
          <a:p>
            <a:r>
              <a:rPr lang="en-IN" dirty="0"/>
              <a:t>            Ensure scalability and data privacy compliance (GDPR, etc.).</a:t>
            </a:r>
          </a:p>
        </p:txBody>
      </p:sp>
      <p:pic>
        <p:nvPicPr>
          <p:cNvPr id="4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8487354-8740-260A-6710-442FB164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48400"/>
            <a:ext cx="175418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6012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24CCBB-FCFC-BC08-A282-4EDB611A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0386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+mj-lt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E9B0BB-E211-CDB2-F540-D14F3980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2E15E-FF47-028E-89F3-DB7CB1A04B34}"/>
              </a:ext>
            </a:extLst>
          </p:cNvPr>
          <p:cNvSpPr txBox="1"/>
          <p:nvPr/>
        </p:nvSpPr>
        <p:spPr>
          <a:xfrm>
            <a:off x="2514600" y="22860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US" sz="40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ALGORITHMS</a:t>
            </a:r>
            <a:r>
              <a:rPr lang="en-IN" altLang="en-US" sz="18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AE23E-682E-0475-8B73-84950EFACF11}"/>
              </a:ext>
            </a:extLst>
          </p:cNvPr>
          <p:cNvSpPr txBox="1"/>
          <p:nvPr/>
        </p:nvSpPr>
        <p:spPr>
          <a:xfrm>
            <a:off x="455908" y="1508125"/>
            <a:ext cx="82489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6: Model Selection &amp; Training </a:t>
            </a:r>
          </a:p>
          <a:p>
            <a:endParaRPr lang="en-IN" dirty="0"/>
          </a:p>
          <a:p>
            <a:r>
              <a:rPr lang="en-IN" dirty="0"/>
              <a:t>            CNN (Convolutional Neural Network):* Used for processing image-based resumes.</a:t>
            </a:r>
          </a:p>
          <a:p>
            <a:endParaRPr lang="en-IN" dirty="0"/>
          </a:p>
          <a:p>
            <a:r>
              <a:rPr lang="en-IN" dirty="0"/>
              <a:t>            LSTM (Long Short-Term Memory):* Suitable for sequence </a:t>
            </a:r>
            <a:r>
              <a:rPr lang="en-IN" dirty="0" err="1"/>
              <a:t>modeling</a:t>
            </a:r>
            <a:r>
              <a:rPr lang="en-IN" dirty="0"/>
              <a:t> in text resumes. </a:t>
            </a:r>
          </a:p>
          <a:p>
            <a:endParaRPr lang="en-IN" dirty="0"/>
          </a:p>
          <a:p>
            <a:r>
              <a:rPr lang="en-IN" dirty="0"/>
              <a:t>            Hybrid  Model (CNN + LSTM):* Combines both models to handle structural and textual fraud detection effectively.* Train models using </a:t>
            </a:r>
            <a:r>
              <a:rPr lang="en-IN" dirty="0" err="1"/>
              <a:t>labeled</a:t>
            </a:r>
            <a:r>
              <a:rPr lang="en-IN" dirty="0"/>
              <a:t> datasets (real vs. fake).</a:t>
            </a:r>
          </a:p>
        </p:txBody>
      </p:sp>
      <p:pic>
        <p:nvPicPr>
          <p:cNvPr id="4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C3A08250-5EE6-456D-A1E0-60708663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324600"/>
            <a:ext cx="1752600" cy="39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923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6195961-0313-86DE-8403-C5A89D5C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5098"/>
            <a:ext cx="8229600" cy="586902"/>
          </a:xfrm>
        </p:spPr>
        <p:txBody>
          <a:bodyPr/>
          <a:lstStyle/>
          <a:p>
            <a:pPr algn="ctr"/>
            <a:r>
              <a:rPr lang="en-US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EXPERIMENTAL RESULTS</a:t>
            </a:r>
            <a:endParaRPr lang="en-IN" altLang="en-US" sz="3600" b="1" dirty="0">
              <a:solidFill>
                <a:srgbClr val="0000CC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7A7BB-CEAB-1A01-CD7B-5FA9E7E6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268947"/>
            <a:ext cx="4191000" cy="349250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36869" name="Slide Number Placeholder 4">
            <a:extLst>
              <a:ext uri="{FF2B5EF4-FFF2-40B4-BE49-F238E27FC236}">
                <a16:creationId xmlns:a16="http://schemas.microsoft.com/office/drawing/2014/main" id="{9748F7BF-E0A9-41C5-887A-E552DBF2F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FF21053-F8B1-4710-B83E-493A987E9912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19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36870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37D930E-1875-B2D3-2254-2685C68A3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953125"/>
            <a:ext cx="17541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091A31-DA2F-9017-C503-D26A8FB3598F}"/>
              </a:ext>
            </a:extLst>
          </p:cNvPr>
          <p:cNvSpPr txBox="1"/>
          <p:nvPr/>
        </p:nvSpPr>
        <p:spPr>
          <a:xfrm>
            <a:off x="609600" y="1166843"/>
            <a:ext cx="7848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 Selection &amp; Performance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CNN (Convolutional Neural Network)</a:t>
            </a:r>
            <a:r>
              <a:rPr lang="en-IN" dirty="0"/>
              <a:t>: Used for detecting fraud in image-based resumes.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LSTM (Long Short-Term Memory)</a:t>
            </a:r>
            <a:r>
              <a:rPr lang="en-IN" dirty="0"/>
              <a:t>: Effective for </a:t>
            </a:r>
            <a:r>
              <a:rPr lang="en-IN" dirty="0" err="1"/>
              <a:t>analyzing</a:t>
            </a:r>
            <a:r>
              <a:rPr lang="en-IN" dirty="0"/>
              <a:t> sequential textual data in resumes.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Hybrid Model (CNN + LSTM)</a:t>
            </a:r>
            <a:r>
              <a:rPr lang="en-IN" dirty="0"/>
              <a:t>: Combines image and text analysis to detect both structural and content-based fraud.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Random Forest</a:t>
            </a:r>
            <a:r>
              <a:rPr lang="en-IN" dirty="0"/>
              <a:t>: Applied for structured data classification (e.g., keywords, education fields).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Evaluation Metrics</a:t>
            </a:r>
            <a:r>
              <a:rPr lang="en-IN" dirty="0"/>
              <a:t>: Models evaluated using </a:t>
            </a:r>
            <a:r>
              <a:rPr lang="en-IN" b="1" dirty="0"/>
              <a:t>Accuracy, F1-score, and ROC-AUC</a:t>
            </a:r>
            <a:r>
              <a:rPr lang="en-IN" dirty="0"/>
              <a:t> for comprehensive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7F7C6-DF11-AE9A-F503-B3ECF0CE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60704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B881E02B-9B3C-05F4-BFEF-8B1702FEBB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45E6F5-B37D-4B81-BC16-9D10709A769C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20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31750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112ED8E-F1B6-E28F-70A2-A59A8A031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C16C20-2A86-6614-D180-475968C8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2400"/>
            <a:ext cx="6947114" cy="60960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EXPERIMENTAL RESULTS</a:t>
            </a:r>
            <a:endParaRPr lang="en-IN" sz="3600" dirty="0">
              <a:solidFill>
                <a:srgbClr val="0000CC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3DED2-C004-3D70-8785-B58BAAE30431}"/>
              </a:ext>
            </a:extLst>
          </p:cNvPr>
          <p:cNvSpPr txBox="1"/>
          <p:nvPr/>
        </p:nvSpPr>
        <p:spPr>
          <a:xfrm>
            <a:off x="838200" y="1752600"/>
            <a:ext cx="777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Fraud &amp; Anomaly Detection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Isolation Forest &amp; Autoencoders</a:t>
            </a:r>
            <a:r>
              <a:rPr lang="en-IN" dirty="0"/>
              <a:t>: Used to detect outliers and anomalies in resume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One-Class SVM</a:t>
            </a:r>
            <a:r>
              <a:rPr lang="en-IN" dirty="0"/>
              <a:t>: Identifies resumes with implausible or unrealistic data patterns.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NLP Similarity Techniques</a:t>
            </a:r>
            <a:r>
              <a:rPr lang="en-IN" dirty="0"/>
              <a:t>: Detects copy-pasted skills and job experiences.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BEC3-3DEB-70A5-494E-CA942F24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704088"/>
            <a:ext cx="7772400" cy="365125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EXPERIMENTAL RESULTS</a:t>
            </a:r>
            <a:endParaRPr lang="en-IN" sz="3600" dirty="0">
              <a:solidFill>
                <a:srgbClr val="0000CC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6B7EA-24AE-6494-3B82-40C100D4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886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E3C0E-71D1-2A51-03AC-C2F7DF3F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6167F-1667-DE5F-098A-591F77E1D08F}"/>
              </a:ext>
            </a:extLst>
          </p:cNvPr>
          <p:cNvSpPr txBox="1"/>
          <p:nvPr/>
        </p:nvSpPr>
        <p:spPr>
          <a:xfrm>
            <a:off x="609600" y="1676401"/>
            <a:ext cx="7772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Plagiarism &amp; Grammar Checking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   Utilizes NLP models to: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Compare resume text similarity.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Identify grammar inconsistencies.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Check keyword stuffing in technical sections.</a:t>
            </a:r>
          </a:p>
        </p:txBody>
      </p:sp>
      <p:pic>
        <p:nvPicPr>
          <p:cNvPr id="7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F9ACCA03-E60C-C398-4949-43AC64477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197600"/>
            <a:ext cx="1828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391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A302-7DB9-9AA8-0490-1959EF57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809244"/>
            <a:ext cx="8229600" cy="1618488"/>
          </a:xfrm>
        </p:spPr>
        <p:txBody>
          <a:bodyPr>
            <a:normAutofit/>
          </a:bodyPr>
          <a:lstStyle/>
          <a:p>
            <a:r>
              <a:rPr lang="en-US" sz="3600" dirty="0"/>
              <a:t> </a:t>
            </a:r>
            <a:r>
              <a:rPr lang="en-US" altLang="en-US" sz="36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EXPERIMENTAL RESULTS</a:t>
            </a:r>
            <a:endParaRPr lang="en-IN" sz="3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B357B-A9BA-892A-D240-4D345FA4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898D-B06F-BA01-8150-510A73A6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A04297C6-D003-B476-BB6F-A63F8CE46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F3E825-253C-6063-97C7-59E478742E1F}"/>
              </a:ext>
            </a:extLst>
          </p:cNvPr>
          <p:cNvSpPr txBox="1"/>
          <p:nvPr/>
        </p:nvSpPr>
        <p:spPr>
          <a:xfrm>
            <a:off x="914400" y="2010382"/>
            <a:ext cx="6858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Preparation &amp; Feature Engineering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 Processing</a:t>
            </a:r>
            <a:r>
              <a:rPr lang="en-US" dirty="0"/>
              <a:t>: Includes tokenization, lemmatization, and conversion using TF-IDF, Word2Vec, or BERT.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Comparison</a:t>
            </a:r>
            <a:r>
              <a:rPr lang="en-US" dirty="0"/>
              <a:t>: Checks alignment between claimed job roles, experience levels, and education backgrounds.</a:t>
            </a:r>
          </a:p>
        </p:txBody>
      </p:sp>
    </p:spTree>
    <p:extLst>
      <p:ext uri="{BB962C8B-B14F-4D97-AF65-F5344CB8AC3E}">
        <p14:creationId xmlns:p14="http://schemas.microsoft.com/office/powerpoint/2010/main" val="2274391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57D69-9F51-4478-05BC-3E3297D7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86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BAA3-E6E4-4484-58D5-774D965F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EF835-9912-C575-6BF8-E05171F510A1}"/>
              </a:ext>
            </a:extLst>
          </p:cNvPr>
          <p:cNvSpPr txBox="1"/>
          <p:nvPr/>
        </p:nvSpPr>
        <p:spPr>
          <a:xfrm>
            <a:off x="533400" y="3048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PERFORMANCE EVALUTION</a:t>
            </a:r>
            <a:endParaRPr lang="en-IN" sz="3600" dirty="0"/>
          </a:p>
        </p:txBody>
      </p:sp>
      <p:pic>
        <p:nvPicPr>
          <p:cNvPr id="11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0F556B71-21C0-821B-EE42-F97BA2862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6E041F5C-690F-6072-515E-4D6A46ABB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06560"/>
            <a:ext cx="81052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Models are evaluated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ROC-AUC curve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These metrics help determine: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correctly the model identifies fake vs. real resumes (accuracy).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balance between precision and recall (F1-score).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trade-off between true positives and false positives (ROC-AUC).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45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56BC-F272-09C1-A7D3-241E6174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088"/>
            <a:ext cx="7924800" cy="28651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PERFORMANCE EVALUTION</a:t>
            </a:r>
            <a:endParaRPr lang="en-IN" sz="3600" dirty="0">
              <a:solidFill>
                <a:srgbClr val="0000CC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52C9B-0CC3-4B10-22F5-C21E9C48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0FA5-8DAE-A8BE-1638-B6F7EC83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BBBF9363-95EC-63FC-2EFA-584ED840B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8B487E-F43A-F968-6C97-DC42C6505BF8}"/>
              </a:ext>
            </a:extLst>
          </p:cNvPr>
          <p:cNvSpPr txBox="1"/>
          <p:nvPr/>
        </p:nvSpPr>
        <p:spPr>
          <a:xfrm>
            <a:off x="990600" y="1720840"/>
            <a:ext cx="6934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Comparison of Multiple Models 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Several models are compared for effectiveness:</a:t>
            </a:r>
          </a:p>
          <a:p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Random Forest</a:t>
            </a:r>
            <a:r>
              <a:rPr lang="en-IN" dirty="0"/>
              <a:t> for structured data features. 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CNN</a:t>
            </a:r>
            <a:r>
              <a:rPr lang="en-IN" dirty="0"/>
              <a:t> for scanned document fraud detection.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LSTM/ Bi LSTM</a:t>
            </a:r>
            <a:r>
              <a:rPr lang="en-IN" dirty="0"/>
              <a:t> for sequential text data.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Hybrid Model (CNN + LSTM)</a:t>
            </a:r>
            <a:r>
              <a:rPr lang="en-IN" dirty="0"/>
              <a:t> to combine image and text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1980040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AE57-F4FD-D775-A0F1-2543D8C9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088"/>
            <a:ext cx="7924800" cy="36512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PERFORMANCE EVALUTION</a:t>
            </a:r>
            <a:endParaRPr lang="en-IN" sz="3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C5F0E-F642-478D-E8F7-8B1A5AC9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0386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942F9-1977-94BF-08B3-34F6DF5A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1F43B47B-3295-3444-527D-4F6278D4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BEFB86E-057E-109B-CA30-802BC6320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17" y="1419631"/>
            <a:ext cx="8229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Hybrid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the strengths of CNN and LSTM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multi-modal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(text + image).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the overall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accuracy and robustness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F2DFF-2362-1768-494E-1D59FC71B3CE}"/>
              </a:ext>
            </a:extLst>
          </p:cNvPr>
          <p:cNvSpPr txBox="1"/>
          <p:nvPr/>
        </p:nvSpPr>
        <p:spPr>
          <a:xfrm>
            <a:off x="936356" y="3581400"/>
            <a:ext cx="77504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Real-Time Scoring &amp; Insights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provides </a:t>
            </a:r>
            <a:r>
              <a:rPr lang="en-US" b="1" dirty="0"/>
              <a:t>real-time fraud detection scores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Offers detailed insights to HR on suspicious resume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1634519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D0F6-2EAD-B7B2-8C42-AF27BAFD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4088"/>
            <a:ext cx="8077200" cy="43891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PERFORMANCE EVALUTION</a:t>
            </a:r>
            <a:endParaRPr lang="en-IN" sz="3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B20D-B06C-B7C5-9DF6-5B5EBBB0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52C5-D34F-E4D7-61EB-44D4EF82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994411F-F20A-C7B5-0EFD-D303A50C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48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FB6C9C6-BBE3-8A60-B2D1-B463EB94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D01DA-B1AB-D156-4A55-B9A9A60CFE38}"/>
              </a:ext>
            </a:extLst>
          </p:cNvPr>
          <p:cNvSpPr txBox="1"/>
          <p:nvPr/>
        </p:nvSpPr>
        <p:spPr>
          <a:xfrm>
            <a:off x="609600" y="152400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Tech Stack for Evaluation 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TensorFlow</a:t>
            </a:r>
            <a:r>
              <a:rPr lang="en-US" dirty="0"/>
              <a:t>, </a:t>
            </a:r>
            <a:r>
              <a:rPr lang="en-US" b="1" dirty="0" err="1"/>
              <a:t>PyTorch</a:t>
            </a:r>
            <a:r>
              <a:rPr lang="en-US" dirty="0"/>
              <a:t>, </a:t>
            </a:r>
            <a:r>
              <a:rPr lang="en-US" b="1" dirty="0"/>
              <a:t>Scikit-learn</a:t>
            </a:r>
            <a:r>
              <a:rPr lang="en-US" dirty="0"/>
              <a:t>, </a:t>
            </a:r>
            <a:r>
              <a:rPr lang="en-US" b="1" dirty="0" err="1"/>
              <a:t>XGBoost</a:t>
            </a:r>
            <a:r>
              <a:rPr lang="en-US" dirty="0"/>
              <a:t> for modeling.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tools support scalable, efficient training and evaluation.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DB228-3B34-39C7-F307-E03848584993}"/>
              </a:ext>
            </a:extLst>
          </p:cNvPr>
          <p:cNvSpPr txBox="1"/>
          <p:nvPr/>
        </p:nvSpPr>
        <p:spPr>
          <a:xfrm>
            <a:off x="228600" y="3836075"/>
            <a:ext cx="8686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Tailor to the Role:</a:t>
            </a:r>
            <a:r>
              <a:rPr lang="en-US" dirty="0"/>
              <a:t> Customize your resume to each job application, highlighting the skills most relevant to the specific position. </a:t>
            </a:r>
          </a:p>
          <a:p>
            <a:endParaRPr lang="en-US" dirty="0"/>
          </a:p>
          <a:p>
            <a:r>
              <a:rPr lang="en-US" b="1" dirty="0"/>
              <a:t>Be Specific:</a:t>
            </a:r>
            <a:r>
              <a:rPr lang="en-US" dirty="0"/>
              <a:t> Mention job-relevant technical skills and tools you possess. </a:t>
            </a:r>
          </a:p>
          <a:p>
            <a:endParaRPr lang="en-US" dirty="0"/>
          </a:p>
          <a:p>
            <a:r>
              <a:rPr lang="en-US" b="1" dirty="0"/>
              <a:t>Use Action Verbs:</a:t>
            </a:r>
            <a:r>
              <a:rPr lang="en-US" dirty="0"/>
              <a:t> Highlight accomplishments and demonstrate the impact of your tech skills.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17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0001946-3B18-89FF-E7B1-05F0BF78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23871"/>
            <a:ext cx="7086600" cy="490105"/>
          </a:xfrm>
        </p:spPr>
        <p:txBody>
          <a:bodyPr>
            <a:noAutofit/>
          </a:bodyPr>
          <a:lstStyle/>
          <a:p>
            <a:pPr algn="ctr"/>
            <a:r>
              <a:rPr lang="en-IN" altLang="en-US" sz="2400" b="1" dirty="0">
                <a:solidFill>
                  <a:srgbClr val="0000CC"/>
                </a:solidFill>
                <a:latin typeface="Copperplate Gothic Bold" panose="020E0705020206020404" pitchFamily="34" charset="0"/>
              </a:rPr>
              <a:t>  COMPARSION WITH EXISTING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C5E7C-640D-0FAF-16DC-41F3A0D6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356349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7991C917-1864-8978-C946-0E04E0ED06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B0477F-EA11-43FF-9163-674B83BAB414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27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3277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6F82A019-7A72-6E99-D164-867F9954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972174"/>
            <a:ext cx="17541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F33E6E-E7DA-FFED-99B7-F5A7E92A7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81532"/>
              </p:ext>
            </p:extLst>
          </p:nvPr>
        </p:nvGraphicFramePr>
        <p:xfrm>
          <a:off x="762000" y="990600"/>
          <a:ext cx="9601199" cy="7132016"/>
        </p:xfrm>
        <a:graphic>
          <a:graphicData uri="http://schemas.openxmlformats.org/drawingml/2006/table">
            <a:tbl>
              <a:tblPr/>
              <a:tblGrid>
                <a:gridCol w="1203498">
                  <a:extLst>
                    <a:ext uri="{9D8B030D-6E8A-4147-A177-3AD203B41FA5}">
                      <a16:colId xmlns:a16="http://schemas.microsoft.com/office/drawing/2014/main" val="1569253450"/>
                    </a:ext>
                  </a:extLst>
                </a:gridCol>
                <a:gridCol w="2527967">
                  <a:extLst>
                    <a:ext uri="{9D8B030D-6E8A-4147-A177-3AD203B41FA5}">
                      <a16:colId xmlns:a16="http://schemas.microsoft.com/office/drawing/2014/main" val="435709092"/>
                    </a:ext>
                  </a:extLst>
                </a:gridCol>
                <a:gridCol w="1627596">
                  <a:extLst>
                    <a:ext uri="{9D8B030D-6E8A-4147-A177-3AD203B41FA5}">
                      <a16:colId xmlns:a16="http://schemas.microsoft.com/office/drawing/2014/main" val="1329511370"/>
                    </a:ext>
                  </a:extLst>
                </a:gridCol>
                <a:gridCol w="2343906">
                  <a:extLst>
                    <a:ext uri="{9D8B030D-6E8A-4147-A177-3AD203B41FA5}">
                      <a16:colId xmlns:a16="http://schemas.microsoft.com/office/drawing/2014/main" val="4037014601"/>
                    </a:ext>
                  </a:extLst>
                </a:gridCol>
                <a:gridCol w="1898232">
                  <a:extLst>
                    <a:ext uri="{9D8B030D-6E8A-4147-A177-3AD203B41FA5}">
                      <a16:colId xmlns:a16="http://schemas.microsoft.com/office/drawing/2014/main" val="1895840636"/>
                    </a:ext>
                  </a:extLst>
                </a:gridCol>
              </a:tblGrid>
              <a:tr h="894576">
                <a:tc>
                  <a:txBody>
                    <a:bodyPr/>
                    <a:lstStyle/>
                    <a:p>
                      <a:r>
                        <a:rPr lang="en-IN" sz="1400" b="1" dirty="0"/>
                        <a:t>Feature</a:t>
                      </a:r>
                      <a:endParaRPr lang="en-IN" sz="14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Special Feature </a:t>
                      </a:r>
                      <a:endParaRPr lang="en-IN" sz="14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Existing System (from Literature)</a:t>
                      </a:r>
                      <a:endParaRPr lang="en-IN" sz="140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Proposed System </a:t>
                      </a:r>
                      <a:endParaRPr lang="en-IN" sz="14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404834"/>
                  </a:ext>
                </a:extLst>
              </a:tr>
              <a:tr h="914907">
                <a:tc>
                  <a:txBody>
                    <a:bodyPr/>
                    <a:lstStyle/>
                    <a:p>
                      <a:r>
                        <a:rPr lang="en-IN" sz="1400" b="1"/>
                        <a:t>Job Recommendation</a:t>
                      </a:r>
                      <a:endParaRPr lang="en-IN" sz="140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Semantic understanding using BERT and Optimal Transport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TF-IDF and rule-based filtering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BERT + Optimal Transport Algorithm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782839"/>
                  </a:ext>
                </a:extLst>
              </a:tr>
              <a:tr h="914907">
                <a:tc>
                  <a:txBody>
                    <a:bodyPr/>
                    <a:lstStyle/>
                    <a:p>
                      <a:r>
                        <a:rPr lang="en-IN" sz="1400" b="1" dirty="0"/>
                        <a:t>Resume Analysis</a:t>
                      </a:r>
                      <a:endParaRPr lang="en-IN" sz="14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Detects keyword stuffing, education &amp; experience mismatches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Manual checks, keyword matching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Random Forest + CNN + NLP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532645"/>
                  </a:ext>
                </a:extLst>
              </a:tr>
              <a:tr h="694343">
                <a:tc>
                  <a:txBody>
                    <a:bodyPr/>
                    <a:lstStyle/>
                    <a:p>
                      <a:r>
                        <a:rPr lang="en-IN" sz="1400" b="1"/>
                        <a:t>Fraud Detection</a:t>
                      </a:r>
                      <a:endParaRPr lang="en-IN" sz="140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Real-time fraud and fake job posting detection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K-Means, Naïve Bayes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CNN, LSTM, Isolation Forest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925124"/>
                  </a:ext>
                </a:extLst>
              </a:tr>
              <a:tr h="914907">
                <a:tc>
                  <a:txBody>
                    <a:bodyPr/>
                    <a:lstStyle/>
                    <a:p>
                      <a:r>
                        <a:rPr lang="en-IN" sz="1400" b="1" dirty="0"/>
                        <a:t>Plagiarism Detection</a:t>
                      </a:r>
                      <a:endParaRPr lang="en-IN" sz="14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Detects paraphrased content using NLP &amp; grammar models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Basic keyword overlap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NLP-based similarity + grammar check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11066"/>
                  </a:ext>
                </a:extLst>
              </a:tr>
              <a:tr h="799595">
                <a:tc>
                  <a:txBody>
                    <a:bodyPr/>
                    <a:lstStyle/>
                    <a:p>
                      <a:r>
                        <a:rPr lang="en-IN" sz="1400" b="1"/>
                        <a:t>Resume Verification</a:t>
                      </a:r>
                      <a:endParaRPr lang="en-IN" sz="140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API-based cross-check with LinkedIn, GitHub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 automated verification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API validation with external sources</a:t>
                      </a:r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575801"/>
                  </a:ext>
                </a:extLst>
              </a:tr>
              <a:tr h="530289"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341777"/>
                  </a:ext>
                </a:extLst>
              </a:tr>
              <a:tr h="530289"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19163"/>
                  </a:ext>
                </a:extLst>
              </a:tr>
              <a:tr h="407914"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908712"/>
                  </a:ext>
                </a:extLst>
              </a:tr>
              <a:tr h="530289"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31579" marR="31579" marT="15789" marB="15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7263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76600" y="6400800"/>
            <a:ext cx="38862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CC"/>
                </a:solidFill>
              </a:rPr>
              <a:t>DEPARTMENT OF INFORMATION 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CE525-593F-4303-8F61-B6A1C4BACBD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25FD8758-EAC0-6F69-85AF-6A0EC038F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150114"/>
            <a:ext cx="1600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67586"/>
              </p:ext>
            </p:extLst>
          </p:nvPr>
        </p:nvGraphicFramePr>
        <p:xfrm>
          <a:off x="457200" y="1"/>
          <a:ext cx="7933510" cy="6517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7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836">
                <a:tc>
                  <a:txBody>
                    <a:bodyPr/>
                    <a:lstStyle/>
                    <a:p>
                      <a:r>
                        <a:rPr lang="en-US" dirty="0"/>
                        <a:t>S 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 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77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Sowmiya-resume.pdf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Performer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</a:t>
                      </a:r>
                      <a:r>
                        <a:rPr lang="en-US" baseline="0" dirty="0"/>
                        <a:t> _resume.pdf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Confusing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sharmi</a:t>
                      </a:r>
                      <a:r>
                        <a:rPr lang="en-US" dirty="0"/>
                        <a:t>_-pdf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motivated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444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Vani-</a:t>
                      </a:r>
                      <a:r>
                        <a:rPr lang="en-US" dirty="0" err="1"/>
                        <a:t>img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 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83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Fake_resume_24.pfd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Bad formatting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83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Resume_fake_4.pdf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Unrelavent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444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Swetha.pdf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accomplished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444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gayatri.img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8836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</a:t>
                      </a:r>
                      <a:r>
                        <a:rPr lang="en-US" baseline="0" dirty="0"/>
                        <a:t>_resume_29</a:t>
                      </a:r>
                      <a:r>
                        <a:rPr lang="en-US" dirty="0"/>
                        <a:t>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 Resume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63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Fake_resume_2.pdf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excessive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959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E91288-4AE8-33BD-6C0D-C5617892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D63EB-9CA9-0885-7261-D32FA803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4" name="Google Shape;172;p8">
            <a:extLst>
              <a:ext uri="{FF2B5EF4-FFF2-40B4-BE49-F238E27FC236}">
                <a16:creationId xmlns:a16="http://schemas.microsoft.com/office/drawing/2014/main" id="{644029E7-F69B-D69E-8DFA-2F673273736E}"/>
              </a:ext>
            </a:extLst>
          </p:cNvPr>
          <p:cNvSpPr txBox="1"/>
          <p:nvPr/>
        </p:nvSpPr>
        <p:spPr>
          <a:xfrm>
            <a:off x="599807" y="54114"/>
            <a:ext cx="80676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CC"/>
                </a:solidFill>
                <a:latin typeface="Balthazar"/>
                <a:ea typeface="Balthazar"/>
                <a:cs typeface="Balthazar"/>
                <a:sym typeface="Balthazar"/>
              </a:rPr>
              <a:t>RESULTS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74;p8">
            <a:extLst>
              <a:ext uri="{FF2B5EF4-FFF2-40B4-BE49-F238E27FC236}">
                <a16:creationId xmlns:a16="http://schemas.microsoft.com/office/drawing/2014/main" id="{62A70BD7-A626-D92D-C02E-5B304A667A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0600" y="1219200"/>
            <a:ext cx="72009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25FD8758-EAC0-6F69-85AF-6A0EC038F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032638"/>
            <a:ext cx="1600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223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F0592F-94F3-25D6-EB9B-5CBB38EB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6576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2D4EA6-FABA-1013-A9AD-5F464C75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4" name="Google Shape;147;p5">
            <a:extLst>
              <a:ext uri="{FF2B5EF4-FFF2-40B4-BE49-F238E27FC236}">
                <a16:creationId xmlns:a16="http://schemas.microsoft.com/office/drawing/2014/main" id="{8C69F276-1894-113D-F98A-64B1F18655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" y="1257300"/>
            <a:ext cx="6858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F05C5255-0D88-46DE-E8A5-DD8521030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1600200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165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ftr" idx="11"/>
          </p:nvPr>
        </p:nvSpPr>
        <p:spPr>
          <a:xfrm>
            <a:off x="3886200" y="6370637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CC"/>
                </a:solidFill>
              </a:rPr>
              <a:t>DEPARTMENT</a:t>
            </a:r>
            <a:r>
              <a:rPr lang="en-US" b="1"/>
              <a:t> </a:t>
            </a:r>
            <a:r>
              <a:rPr lang="en-US" sz="1400" b="1">
                <a:solidFill>
                  <a:srgbClr val="0000CC"/>
                </a:solidFill>
              </a:rPr>
              <a:t>OF INFORMATION TECHNOLOGY</a:t>
            </a:r>
            <a:endParaRPr/>
          </a:p>
        </p:txBody>
      </p:sp>
      <p:sp>
        <p:nvSpPr>
          <p:cNvPr id="153" name="Google Shape;153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55" name="Google Shape;155;p6" descr="C:\Users\EXAMCELL-02\Desktop\New Logo\Kingston - College - Logo B&amp;W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73483"/>
            <a:ext cx="19812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1100" y="1333500"/>
            <a:ext cx="6781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1C32CD-5E06-C6E6-226C-DE965F2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130FEA-04F9-2CBB-FD1A-7E80BA7C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4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4E7A2C58-CF62-A2A8-B0A5-BF39CB884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1600200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6C2545-1FB5-C8E3-373A-7E4868DA3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57250"/>
            <a:ext cx="69342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77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E7FD7C-6704-325B-2F0C-DFAA11E8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F655D-1D57-74E4-EDD2-3E523A1F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52C8CE43-A32C-77F1-A4E1-74D7F5D91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1600200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355095-3169-0837-A32E-AC1CC496E2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57250"/>
            <a:ext cx="723900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95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912784-034E-5FB6-639C-24CE43C2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1A7B6-FD07-A4EE-C9C2-C9C5EB9F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FDEA8-5A2F-818A-A83E-79E4543EC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57250"/>
            <a:ext cx="7086600" cy="4400550"/>
          </a:xfrm>
          <a:prstGeom prst="rect">
            <a:avLst/>
          </a:prstGeom>
        </p:spPr>
      </p:pic>
      <p:pic>
        <p:nvPicPr>
          <p:cNvPr id="6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6C8CD12E-1530-7F96-FDA6-167A1455B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1600200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338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5F768D-49E7-019F-503B-C396E796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862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BAE68-F926-B68F-9B53-2A9A2B5D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D375C-70FC-4561-94F7-8E34B78375C4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4" name="Google Shape;165;p7">
            <a:extLst>
              <a:ext uri="{FF2B5EF4-FFF2-40B4-BE49-F238E27FC236}">
                <a16:creationId xmlns:a16="http://schemas.microsoft.com/office/drawing/2014/main" id="{1794CB0C-F3D4-0A4F-D7DD-3C8171475B7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" y="1333500"/>
            <a:ext cx="67818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F358AED8-519D-EE26-C37B-6ACC5012F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172200"/>
            <a:ext cx="1600200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573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16CF92C-E2D3-55E2-309B-0973FC27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77190"/>
            <a:ext cx="5486400" cy="514350"/>
          </a:xfrm>
        </p:spPr>
        <p:txBody>
          <a:bodyPr/>
          <a:lstStyle/>
          <a:p>
            <a:pPr algn="ctr" eaLnBrk="1" hangingPunct="1"/>
            <a:r>
              <a:rPr lang="en-IN" altLang="en-US" sz="3200" b="1" dirty="0">
                <a:solidFill>
                  <a:srgbClr val="0000CC"/>
                </a:solidFill>
                <a:latin typeface="Copperplate Gothic Bold" panose="020E07050202060204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  references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91D9061F-B87D-EA98-D09F-EFED2E7CD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4" y="1185430"/>
            <a:ext cx="7315201" cy="4444656"/>
          </a:xfrm>
        </p:spPr>
        <p:txBody>
          <a:bodyPr/>
          <a:lstStyle/>
          <a:p>
            <a:pPr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Agarwal, A., </a:t>
            </a:r>
            <a:r>
              <a:rPr lang="en-IN" sz="1800" dirty="0" err="1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Beygelzimer</a:t>
            </a: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, A., Dudik, M., Langford, J., &amp; Wallach, H. (2018). A Reductions Approach To Fair Classification. Proceedings Of Machine Learning Research, 80, 60-69.</a:t>
            </a:r>
          </a:p>
          <a:p>
            <a:pPr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40404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Anderson, N. (2003). Applicant And Recruiter Reactions To New Technology In Selection. International Journal Of Selection And Assessment, 11(2-3), 121-136. </a:t>
            </a:r>
            <a:r>
              <a:rPr lang="en-IN" sz="1800" u="sng" dirty="0">
                <a:solidFill>
                  <a:schemeClr val="accent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Https://Doi.Org/10.1111/1468-2389.00235</a:t>
            </a:r>
            <a:endParaRPr lang="en-IN" sz="18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Arneson, R. (2016). Does Fairness Require A Multidimensional Approach? Oxford Handbook Of Wellbeing And Public Policy, 588-614.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EAA7B-CC6E-D7F7-3113-F4E4FB88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6600" y="5768392"/>
            <a:ext cx="4343400" cy="770520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0E703F5D-7355-EEEF-4982-62CE2198D7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96EF02-5494-4554-8017-9C08E1F62DA5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36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pic>
        <p:nvPicPr>
          <p:cNvPr id="44038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F7F03B1-EDAD-AF41-8CFF-8AB610305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16130"/>
            <a:ext cx="1555750" cy="68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2017F-D3DA-12AF-8868-1768AA365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7696200" cy="4389437"/>
          </a:xfrm>
        </p:spPr>
        <p:txBody>
          <a:bodyPr/>
          <a:lstStyle/>
          <a:p>
            <a:pPr>
              <a:buClr>
                <a:schemeClr val="tx1"/>
              </a:buClr>
              <a:buSzPct val="139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Barocas, S., &amp; Selbst, A. D. (2016). Big Data's Disparate Impact. California Law Review, 104, 671-732.</a:t>
            </a:r>
          </a:p>
          <a:p>
            <a:pPr marL="0" indent="0">
              <a:buClr>
                <a:schemeClr val="tx1"/>
              </a:buClr>
              <a:buSzPct val="139000"/>
              <a:buNone/>
            </a:pP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39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Bartone, P. T., &amp; Bowles, S. V. (2020). Coping With Recruiter Stress. Military Psychology, 32(5), 390-397.</a:t>
            </a:r>
          </a:p>
          <a:p>
            <a:pPr marL="0" indent="0">
              <a:buClr>
                <a:schemeClr val="tx1"/>
              </a:buClr>
              <a:buSzPct val="139000"/>
              <a:buNone/>
            </a:pPr>
            <a:endParaRPr lang="en-IN" sz="1800" dirty="0">
              <a:solidFill>
                <a:srgbClr val="40404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buClr>
                <a:schemeClr val="tx1"/>
              </a:buClr>
              <a:buSzPct val="139000"/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404040"/>
              </a:solidFill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buClr>
                <a:schemeClr val="tx1"/>
              </a:buClr>
              <a:buSzPct val="139000"/>
              <a:buFont typeface="Arial" panose="020B0604020202020204" pitchFamily="34" charset="0"/>
              <a:buChar char="•"/>
            </a:pPr>
            <a:r>
              <a:rPr lang="en-IN" sz="1800" dirty="0" err="1"/>
              <a:t>Dastin</a:t>
            </a:r>
            <a:r>
              <a:rPr lang="en-IN" sz="1800" dirty="0"/>
              <a:t>, J. (2018). Amazon Scraps Secret Ai Recruiting Tool. Reuters. </a:t>
            </a:r>
            <a:r>
              <a:rPr lang="en-IN" sz="1800" u="sng" dirty="0">
                <a:hlinkClick r:id="rId2"/>
              </a:rPr>
              <a:t>Https://Www.Reuters.Com/Article/Us-Amazon-Com-Jobs-Automation-Insight-Iduskcn1mk08g</a:t>
            </a:r>
            <a:endParaRPr lang="en-US" sz="1800" dirty="0"/>
          </a:p>
          <a:p>
            <a:pPr marL="0" indent="0">
              <a:buClr>
                <a:schemeClr val="tx1"/>
              </a:buClr>
              <a:buSzPct val="139000"/>
              <a:buNone/>
            </a:pPr>
            <a:endParaRPr lang="en-IN" sz="1800" dirty="0">
              <a:solidFill>
                <a:srgbClr val="40404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buClr>
                <a:schemeClr val="tx1"/>
              </a:buClr>
              <a:buSzPct val="139000"/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404040"/>
              </a:solidFill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0" indent="0">
              <a:buClr>
                <a:schemeClr val="tx1"/>
              </a:buClr>
              <a:buSzPct val="139000"/>
              <a:buNone/>
            </a:pPr>
            <a:endParaRPr lang="en-IN" sz="1800" dirty="0">
              <a:solidFill>
                <a:srgbClr val="404040"/>
              </a:solidFill>
              <a:latin typeface="Cambria" panose="02040503050406030204" pitchFamily="18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0" indent="0">
              <a:buClr>
                <a:schemeClr val="tx1"/>
              </a:buClr>
              <a:buSzPct val="139000"/>
              <a:buNone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BDB45-9F16-48BC-FD6C-E4867828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173787"/>
            <a:ext cx="4495800" cy="379413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175AD-80AD-79E5-E747-E80D9463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92B2A-F86D-4783-ABEE-CF1B3897A144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9E678D-5EFA-2AD1-66C0-55F18C53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49" y="266700"/>
            <a:ext cx="8229600" cy="533400"/>
          </a:xfrm>
        </p:spPr>
        <p:txBody>
          <a:bodyPr/>
          <a:lstStyle/>
          <a:p>
            <a:pPr algn="ctr" eaLnBrk="1" hangingPunct="1"/>
            <a:r>
              <a:rPr lang="en-IN" altLang="en-US" sz="3200" b="1" dirty="0">
                <a:solidFill>
                  <a:srgbClr val="0000CC"/>
                </a:solidFill>
                <a:latin typeface="Copperplate Gothic Bold" panose="020E07050202060204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  references</a:t>
            </a:r>
          </a:p>
        </p:txBody>
      </p:sp>
      <p:pic>
        <p:nvPicPr>
          <p:cNvPr id="7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3F7F03B1-EDAD-AF41-8CFF-8AB610305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896572"/>
            <a:ext cx="1447800" cy="82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254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129-E62B-8DED-17CF-E7B1ABC0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1295400"/>
            <a:ext cx="6781800" cy="2133600"/>
          </a:xfrm>
          <a:ln>
            <a:miter lim="800000"/>
            <a:headEnd/>
            <a:tailEnd/>
          </a:ln>
        </p:spPr>
        <p:txBody>
          <a:bodyPr/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8000" b="1" dirty="0">
                <a:solidFill>
                  <a:srgbClr val="0000CC"/>
                </a:solidFill>
                <a:latin typeface="Cambria" pitchFamily="18" charset="0"/>
              </a:rPr>
              <a:t>THANK YOU</a:t>
            </a:r>
          </a:p>
        </p:txBody>
      </p:sp>
      <p:sp>
        <p:nvSpPr>
          <p:cNvPr id="48131" name="Slide Number Placeholder 2">
            <a:extLst>
              <a:ext uri="{FF2B5EF4-FFF2-40B4-BE49-F238E27FC236}">
                <a16:creationId xmlns:a16="http://schemas.microsoft.com/office/drawing/2014/main" id="{3A17FA39-5B77-642D-BE5C-3345FC4929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F9C564-9367-4475-ABED-BFA44B523564}" type="slidenum">
              <a:rPr lang="en-US" altLang="en-US" smtClean="0">
                <a:solidFill>
                  <a:srgbClr val="045C75"/>
                </a:solidFill>
                <a:latin typeface="Constantia" panose="02030602050306030303" pitchFamily="18" charset="0"/>
              </a:rPr>
              <a:pPr/>
              <a:t>38</a:t>
            </a:fld>
            <a:endParaRPr lang="en-US" altLang="en-US">
              <a:solidFill>
                <a:srgbClr val="045C75"/>
              </a:solidFill>
              <a:latin typeface="Constantia" panose="02030602050306030303" pitchFamily="18" charset="0"/>
            </a:endParaRPr>
          </a:p>
        </p:txBody>
      </p:sp>
      <p:sp>
        <p:nvSpPr>
          <p:cNvPr id="20484" name="Footer Placeholder 3">
            <a:extLst>
              <a:ext uri="{FF2B5EF4-FFF2-40B4-BE49-F238E27FC236}">
                <a16:creationId xmlns:a16="http://schemas.microsoft.com/office/drawing/2014/main" id="{4E4A000E-E4B8-98CE-0251-47E219C4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200400" y="6157577"/>
            <a:ext cx="4191000" cy="3651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0000CC"/>
                </a:solidFill>
              </a:rPr>
              <a:t>DEPARTMENT OF INFORMATION TECHNOLOGY</a:t>
            </a:r>
          </a:p>
        </p:txBody>
      </p:sp>
      <p:pic>
        <p:nvPicPr>
          <p:cNvPr id="48133" name="Picture 2" descr="C:\Users\EXAMCELL-02\Desktop\New Logo\Kingston - College - Logo B&amp;W.jpg">
            <a:extLst>
              <a:ext uri="{FF2B5EF4-FFF2-40B4-BE49-F238E27FC236}">
                <a16:creationId xmlns:a16="http://schemas.microsoft.com/office/drawing/2014/main" id="{18D4C977-40D6-247F-7A49-ED4DC624E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35339"/>
            <a:ext cx="182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7924</TotalTime>
  <Words>3052</Words>
  <Application>Microsoft Office PowerPoint</Application>
  <PresentationFormat>On-screen Show (4:3)</PresentationFormat>
  <Paragraphs>483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Algerian</vt:lpstr>
      <vt:lpstr>Arial</vt:lpstr>
      <vt:lpstr>Arial Black</vt:lpstr>
      <vt:lpstr>Balthazar</vt:lpstr>
      <vt:lpstr>Book Antiqua</vt:lpstr>
      <vt:lpstr>Calibri</vt:lpstr>
      <vt:lpstr>Cambria</vt:lpstr>
      <vt:lpstr>Constantia</vt:lpstr>
      <vt:lpstr>Copperplate Gothic Bold</vt:lpstr>
      <vt:lpstr>Times New Roman</vt:lpstr>
      <vt:lpstr>Wingdings</vt:lpstr>
      <vt:lpstr>Wingdings 2</vt:lpstr>
      <vt:lpstr>Flow</vt:lpstr>
      <vt:lpstr>Resume Integrity Checker: AI-Powered Fake Resume Detection</vt:lpstr>
      <vt:lpstr>LITERATURE  SURVEY</vt:lpstr>
      <vt:lpstr> </vt:lpstr>
      <vt:lpstr>PowerPoint Presentation</vt:lpstr>
      <vt:lpstr>PowerPoint Presentation</vt:lpstr>
      <vt:lpstr>PowerPoint Presentation</vt:lpstr>
      <vt:lpstr>ABSTRACT</vt:lpstr>
      <vt:lpstr>EXISTING SYSTEM</vt:lpstr>
      <vt:lpstr>  PROPOSED SYSTEM</vt:lpstr>
      <vt:lpstr>Architecture diagram</vt:lpstr>
      <vt:lpstr>MODULES </vt:lpstr>
      <vt:lpstr>        MODULES </vt:lpstr>
      <vt:lpstr>       MODULES </vt:lpstr>
      <vt:lpstr>            MODULES </vt:lpstr>
      <vt:lpstr> ALGORITHMS             </vt:lpstr>
      <vt:lpstr>PowerPoint Presentation</vt:lpstr>
      <vt:lpstr>PowerPoint Presentation</vt:lpstr>
      <vt:lpstr>PowerPoint Presentation</vt:lpstr>
      <vt:lpstr>EXPERIMENTAL RESULTS</vt:lpstr>
      <vt:lpstr>EXPERIMENTAL RESULTS</vt:lpstr>
      <vt:lpstr>EXPERIMENTAL RESULTS</vt:lpstr>
      <vt:lpstr> EXPERIMENTAL RESULTS</vt:lpstr>
      <vt:lpstr>PowerPoint Presentation</vt:lpstr>
      <vt:lpstr>PERFORMANCE EVALUTION</vt:lpstr>
      <vt:lpstr>PERFORMANCE EVALUTION</vt:lpstr>
      <vt:lpstr>PERFORMANCE EVALUTION</vt:lpstr>
      <vt:lpstr>  COMPARSION WITH EXISTING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references</vt:lpstr>
      <vt:lpstr>  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SECURE SEARCHABLE HEALTH MONITORING SYSTEM OVER CLOUD A FAST INDEXING SCHEME</dc:title>
  <dc:creator>Sharmila J</dc:creator>
  <cp:lastModifiedBy>Sharmila J</cp:lastModifiedBy>
  <cp:revision>52</cp:revision>
  <dcterms:created xsi:type="dcterms:W3CDTF">2006-08-16T00:00:00Z</dcterms:created>
  <dcterms:modified xsi:type="dcterms:W3CDTF">2026-01-08T16:03:42Z</dcterms:modified>
</cp:coreProperties>
</file>